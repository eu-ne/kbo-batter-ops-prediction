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1" r:id="rId5"/>
    <p:sldId id="264" r:id="rId6"/>
    <p:sldId id="275" r:id="rId7"/>
    <p:sldId id="267" r:id="rId8"/>
    <p:sldId id="286" r:id="rId9"/>
    <p:sldId id="276" r:id="rId10"/>
    <p:sldId id="279" r:id="rId11"/>
    <p:sldId id="287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60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D4F5"/>
    <a:srgbClr val="0768BE"/>
    <a:srgbClr val="FFFFFF"/>
    <a:srgbClr val="B3D2D4"/>
    <a:srgbClr val="E1E6E9"/>
    <a:srgbClr val="EAF0F0"/>
    <a:srgbClr val="ECF1F4"/>
    <a:srgbClr val="065AA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BD7BDB-C018-423B-B27E-F087316E7E85}" v="590" dt="2025-11-18T02:59:21.9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70" autoAdjust="0"/>
    <p:restoredTop sz="94660"/>
  </p:normalViewPr>
  <p:slideViewPr>
    <p:cSldViewPr snapToGrid="0" showGuides="1">
      <p:cViewPr varScale="1">
        <p:scale>
          <a:sx n="67" d="100"/>
          <a:sy n="67" d="100"/>
        </p:scale>
        <p:origin x="78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C6819C-650A-EFCE-BEA3-AF4060EB9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677DF2A-101A-AE16-5D3F-AA6A8CAB22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9D3713-6387-8DC7-9918-FE73DC713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CE89C-D214-45BF-838A-2A191236AD0F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FB00F2-CECE-85E4-1EA9-1758D3C1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39F2BA-C923-D3E8-975A-A2531EFA9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49AE8-89A1-4C6D-AC69-64FA4FD9CD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7943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68CEDC-9995-65AE-5350-EE1F00EDA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064829-9F1A-4442-FF43-7DC20733F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6E6050-7038-D090-5C7A-081EF2F23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CE89C-D214-45BF-838A-2A191236AD0F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C99E56-C714-B7B0-C654-F82FB6730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871526-CF8B-F29F-5C80-656ABDC90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49AE8-89A1-4C6D-AC69-64FA4FD9CD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6817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E2B7D8-2FFF-93C7-E7B5-ACCC374B1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FC078D8-AEF1-7850-604F-2813AF072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26EDA4-6CF5-5C7D-A6DB-1FB8A0359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CE89C-D214-45BF-838A-2A191236AD0F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B09CC0-0D02-BB42-60B9-DAD114831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BB9BA6-38BF-1B26-3F31-C5BA34EFB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49AE8-89A1-4C6D-AC69-64FA4FD9CD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370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8B2DD1-C76F-011D-64E2-07CA1AC85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8A12F0-A5DE-0C5D-A869-1B50C67BB4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724B535-F98B-D243-577E-0C996D13E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CA4AC1-6AF3-AD8D-08DF-96A87D5ED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CE89C-D214-45BF-838A-2A191236AD0F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28C771-758D-2B61-8A02-80252488D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206557-738F-2397-6DE2-78DFF0837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49AE8-89A1-4C6D-AC69-64FA4FD9CD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9760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735DFA-4E34-35DA-DDCD-7C0746D86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D640CF-5BE2-0DF7-A965-5A0ED956E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9996E6-9DD2-078F-AC5C-C2D770BC2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C59C0B7-4D2F-FED3-9153-5D31CC14A6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9F61754-8BDD-A801-D6B0-749FA3998B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CC96027-A160-5681-E60C-ED2028DFF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CE89C-D214-45BF-838A-2A191236AD0F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C4B2191-36F2-D595-2534-0C00DFFF1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B674F5A-14FA-02EC-6102-9B53291DF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49AE8-89A1-4C6D-AC69-64FA4FD9CD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5193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F57CA6-4F6E-4DB7-CC1B-D8A79CAD5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9BD7841-7778-A7CF-A95D-69324F5B4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CE89C-D214-45BF-838A-2A191236AD0F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73A0E1-EF16-371C-10F6-FF1D18516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83A9D5-F0BA-BEEF-9DBA-2F59A163A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49AE8-89A1-4C6D-AC69-64FA4FD9CD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9428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42FB7E-82AD-65D1-D71A-229E6CC08482}"/>
              </a:ext>
            </a:extLst>
          </p:cNvPr>
          <p:cNvSpPr txBox="1"/>
          <p:nvPr userDrawn="1"/>
        </p:nvSpPr>
        <p:spPr>
          <a:xfrm>
            <a:off x="9888164" y="6600027"/>
            <a:ext cx="23038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© 2023. Saebyeol Yu. all rights reserved.</a:t>
            </a:r>
            <a:endParaRPr lang="ko-KR" altLang="en-US" sz="900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47D1567-02DD-74A5-D7CD-88C215712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CE89C-D214-45BF-838A-2A191236AD0F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E75AC12-E9DD-BC4A-257B-C60EDD63A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2C462E-9F7A-3E57-58D2-59DB6ED59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49AE8-89A1-4C6D-AC69-64FA4FD9CD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0082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42FB7E-82AD-65D1-D71A-229E6CC08482}"/>
              </a:ext>
            </a:extLst>
          </p:cNvPr>
          <p:cNvSpPr txBox="1"/>
          <p:nvPr userDrawn="1"/>
        </p:nvSpPr>
        <p:spPr>
          <a:xfrm>
            <a:off x="9888164" y="6600027"/>
            <a:ext cx="23038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</a:rPr>
              <a:t>© 2023. Saebyeol Yu. all rights reserved.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47D1567-02DD-74A5-D7CD-88C215712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CE89C-D214-45BF-838A-2A191236AD0F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E75AC12-E9DD-BC4A-257B-C60EDD63A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2C462E-9F7A-3E57-58D2-59DB6ED59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49AE8-89A1-4C6D-AC69-64FA4FD9CD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7136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47D1567-02DD-74A5-D7CD-88C215712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CE89C-D214-45BF-838A-2A191236AD0F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E75AC12-E9DD-BC4A-257B-C60EDD63A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2C462E-9F7A-3E57-58D2-59DB6ED59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49AE8-89A1-4C6D-AC69-64FA4FD9CD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9144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3777DC-54B1-4179-DDE9-888915C1A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44883A-8E41-A5AE-7C0A-D52EC694F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67AB970-6D78-346A-8039-35F4CA73A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2AD476-0830-00DE-7D5F-25EA5F18D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CE89C-D214-45BF-838A-2A191236AD0F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1A4A9C-C350-8E5D-66C7-DBE9EF8E4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4B4FCB-69EA-B7C8-7466-8783B7005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49AE8-89A1-4C6D-AC69-64FA4FD9CD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02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080680-8AA9-EE29-11EB-0CD70EB35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8167537-4B10-B0A2-78D5-F70DA3A3CF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742A3A9-F072-8B03-656A-1FC6877601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40510C-0781-BFB1-AB2C-9F5AB9E4D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CE89C-D214-45BF-838A-2A191236AD0F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CE7275-0C36-7270-66F8-81C39F2F6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75969E-F4C0-1EB0-36A9-4415E3EB6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49AE8-89A1-4C6D-AC69-64FA4FD9CD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6649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75259-B2ED-6504-CD1B-97DF3F64B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98292C-E780-865A-717B-4E8B04A6E7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5F6C08-F733-3022-A8F1-EBA569D7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CE89C-D214-45BF-838A-2A191236AD0F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4C797A-5B57-B21A-B02D-B503BE69B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0B3EB8-5390-C6A1-6859-418E5FD8E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49AE8-89A1-4C6D-AC69-64FA4FD9CD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4440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C36CC03-A66F-9D17-066A-CC7F16ED63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2C7F0C1-611D-4089-6C0A-42EE449C53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58BB95-714B-0AEC-79AB-1396C5BF9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CE89C-D214-45BF-838A-2A191236AD0F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02E0A7-AFE7-75A8-E723-CF34D1049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43A78B-B04B-2509-52C6-E55BD5349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49AE8-89A1-4C6D-AC69-64FA4FD9CD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6794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DB3F7C9-981C-F52A-F317-6C368E21D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3BEFE2-BD3D-9B94-76B6-F8F611139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933AF7-99F5-2D50-5871-2374CCA427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FCE89C-D214-45BF-838A-2A191236AD0F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D06622-6CF8-623A-561F-B80C88E139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0B0274-E7CC-BE37-B07C-9D50E3805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249AE8-89A1-4C6D-AC69-64FA4FD9CD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4810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61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타원 8">
            <a:extLst>
              <a:ext uri="{FF2B5EF4-FFF2-40B4-BE49-F238E27FC236}">
                <a16:creationId xmlns:a16="http://schemas.microsoft.com/office/drawing/2014/main" id="{98470452-7B2D-B82C-08CB-66284C3B9A1A}"/>
              </a:ext>
            </a:extLst>
          </p:cNvPr>
          <p:cNvSpPr/>
          <p:nvPr/>
        </p:nvSpPr>
        <p:spPr>
          <a:xfrm>
            <a:off x="-1607283" y="0"/>
            <a:ext cx="4119445" cy="411944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algn="tl" rotWithShape="0">
              <a:schemeClr val="accent2">
                <a:lumMod val="50000"/>
                <a:alpha val="40000"/>
              </a:schemeClr>
            </a:outerShdw>
            <a:softEdge rad="152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 descr="블랙, 어둠이(가) 표시된 사진">
            <a:extLst>
              <a:ext uri="{FF2B5EF4-FFF2-40B4-BE49-F238E27FC236}">
                <a16:creationId xmlns:a16="http://schemas.microsoft.com/office/drawing/2014/main" id="{3AC42899-3C0C-1BFD-7E71-80B9E74E716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1270" y="1275661"/>
            <a:ext cx="5582339" cy="5582339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4C10E4-FA2C-56FB-CA09-DF57C6C6B21F}"/>
              </a:ext>
            </a:extLst>
          </p:cNvPr>
          <p:cNvSpPr txBox="1"/>
          <p:nvPr/>
        </p:nvSpPr>
        <p:spPr>
          <a:xfrm>
            <a:off x="580375" y="2922731"/>
            <a:ext cx="87511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+mj-ea"/>
                <a:ea typeface="+mj-ea"/>
              </a:rPr>
              <a:t>KBO </a:t>
            </a:r>
            <a:r>
              <a:rPr lang="ko-KR" altLang="en-US" sz="5400" b="1" dirty="0">
                <a:solidFill>
                  <a:schemeClr val="bg1"/>
                </a:solidFill>
                <a:latin typeface="+mj-ea"/>
                <a:ea typeface="+mj-ea"/>
              </a:rPr>
              <a:t>타자 </a:t>
            </a:r>
            <a:r>
              <a:rPr lang="en-US" altLang="ko-KR" sz="5400" b="1" dirty="0">
                <a:solidFill>
                  <a:schemeClr val="bg1"/>
                </a:solidFill>
                <a:latin typeface="+mj-ea"/>
                <a:ea typeface="+mj-ea"/>
              </a:rPr>
              <a:t>OPS </a:t>
            </a:r>
            <a:r>
              <a:rPr lang="ko-KR" altLang="en-US" sz="5400" b="1" dirty="0">
                <a:solidFill>
                  <a:schemeClr val="bg1"/>
                </a:solidFill>
                <a:latin typeface="+mj-ea"/>
                <a:ea typeface="+mj-ea"/>
              </a:rPr>
              <a:t>예측 경진대회</a:t>
            </a:r>
          </a:p>
        </p:txBody>
      </p:sp>
    </p:spTree>
    <p:extLst>
      <p:ext uri="{BB962C8B-B14F-4D97-AF65-F5344CB8AC3E}">
        <p14:creationId xmlns:p14="http://schemas.microsoft.com/office/powerpoint/2010/main" val="2889343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1920927-5D6E-1AB4-D564-48FD4DC820CD}"/>
              </a:ext>
            </a:extLst>
          </p:cNvPr>
          <p:cNvSpPr txBox="1"/>
          <p:nvPr/>
        </p:nvSpPr>
        <p:spPr>
          <a:xfrm>
            <a:off x="1585081" y="732189"/>
            <a:ext cx="2141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3">
                    <a:lumMod val="50000"/>
                  </a:schemeClr>
                </a:solidFill>
              </a:rPr>
              <a:t>a table of contents</a:t>
            </a:r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98ACB0-3B4A-DF3E-9DB5-15701F3B1BC7}"/>
              </a:ext>
            </a:extLst>
          </p:cNvPr>
          <p:cNvSpPr txBox="1"/>
          <p:nvPr/>
        </p:nvSpPr>
        <p:spPr>
          <a:xfrm>
            <a:off x="691888" y="516746"/>
            <a:ext cx="8931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>
                <a:solidFill>
                  <a:schemeClr val="bg1"/>
                </a:solidFill>
                <a:latin typeface="+mj-ea"/>
                <a:ea typeface="+mj-ea"/>
              </a:rPr>
              <a:t>목차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C362457-61FA-2AF6-117F-AFF7BCA8C5BC}"/>
              </a:ext>
            </a:extLst>
          </p:cNvPr>
          <p:cNvGrpSpPr/>
          <p:nvPr/>
        </p:nvGrpSpPr>
        <p:grpSpPr>
          <a:xfrm>
            <a:off x="691888" y="2883366"/>
            <a:ext cx="1415772" cy="1091268"/>
            <a:chOff x="5253582" y="1414193"/>
            <a:chExt cx="1415772" cy="109126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5EA9F5-D881-6C82-B6ED-3E1CA338B68F}"/>
                </a:ext>
              </a:extLst>
            </p:cNvPr>
            <p:cNvSpPr txBox="1"/>
            <p:nvPr/>
          </p:nvSpPr>
          <p:spPr>
            <a:xfrm>
              <a:off x="5253582" y="1414193"/>
              <a:ext cx="41069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600" b="1" dirty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ko-KR" altLang="en-US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80EAA61-A415-E6CA-0CC8-A93ED9012C94}"/>
                </a:ext>
              </a:extLst>
            </p:cNvPr>
            <p:cNvSpPr txBox="1"/>
            <p:nvPr/>
          </p:nvSpPr>
          <p:spPr>
            <a:xfrm>
              <a:off x="5253582" y="2043796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>
                  <a:solidFill>
                    <a:schemeClr val="bg1"/>
                  </a:solidFill>
                  <a:latin typeface="+mn-ea"/>
                </a:rPr>
                <a:t>대회소개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E63B949-53A8-5C27-5748-F841FEAB88A0}"/>
              </a:ext>
            </a:extLst>
          </p:cNvPr>
          <p:cNvGrpSpPr/>
          <p:nvPr/>
        </p:nvGrpSpPr>
        <p:grpSpPr>
          <a:xfrm>
            <a:off x="3520580" y="2883366"/>
            <a:ext cx="1723549" cy="1091268"/>
            <a:chOff x="5253582" y="1414193"/>
            <a:chExt cx="1723549" cy="1091268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357C429-D02E-071D-BE9E-4EDB1ABA8484}"/>
                </a:ext>
              </a:extLst>
            </p:cNvPr>
            <p:cNvSpPr txBox="1"/>
            <p:nvPr/>
          </p:nvSpPr>
          <p:spPr>
            <a:xfrm>
              <a:off x="5253582" y="1414193"/>
              <a:ext cx="47320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600" b="1" dirty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ko-KR" altLang="en-US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5E62D90-E49A-734C-FD5D-DF34B8816DAA}"/>
                </a:ext>
              </a:extLst>
            </p:cNvPr>
            <p:cNvSpPr txBox="1"/>
            <p:nvPr/>
          </p:nvSpPr>
          <p:spPr>
            <a:xfrm>
              <a:off x="5253582" y="2043796"/>
              <a:ext cx="17235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>
                  <a:solidFill>
                    <a:schemeClr val="bg1"/>
                  </a:solidFill>
                  <a:latin typeface="+mn-ea"/>
                </a:rPr>
                <a:t>데이터소개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94540432-8DEB-80B0-D7C1-79A6E826EC9B}"/>
              </a:ext>
            </a:extLst>
          </p:cNvPr>
          <p:cNvGrpSpPr/>
          <p:nvPr/>
        </p:nvGrpSpPr>
        <p:grpSpPr>
          <a:xfrm>
            <a:off x="6349272" y="2883366"/>
            <a:ext cx="1415772" cy="1091268"/>
            <a:chOff x="5253582" y="1414193"/>
            <a:chExt cx="1415772" cy="109126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17B0206-2BCE-D5ED-2009-9C537174032A}"/>
                </a:ext>
              </a:extLst>
            </p:cNvPr>
            <p:cNvSpPr txBox="1"/>
            <p:nvPr/>
          </p:nvSpPr>
          <p:spPr>
            <a:xfrm>
              <a:off x="5253582" y="1414193"/>
              <a:ext cx="48603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600" b="1" dirty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ko-KR" altLang="en-US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3D3392B-9EC2-95C3-A72B-152340AA5B1E}"/>
                </a:ext>
              </a:extLst>
            </p:cNvPr>
            <p:cNvSpPr txBox="1"/>
            <p:nvPr/>
          </p:nvSpPr>
          <p:spPr>
            <a:xfrm>
              <a:off x="5253582" y="2043796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>
                  <a:solidFill>
                    <a:schemeClr val="bg1"/>
                  </a:solidFill>
                  <a:latin typeface="+mn-ea"/>
                </a:rPr>
                <a:t>수상사유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8A3A971F-ED00-513F-4FEF-F0F6D7182FE5}"/>
              </a:ext>
            </a:extLst>
          </p:cNvPr>
          <p:cNvGrpSpPr/>
          <p:nvPr/>
        </p:nvGrpSpPr>
        <p:grpSpPr>
          <a:xfrm>
            <a:off x="9177964" y="2883366"/>
            <a:ext cx="1415772" cy="1091268"/>
            <a:chOff x="5253582" y="1414193"/>
            <a:chExt cx="1415772" cy="1091268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639F643-8E28-249A-7C5B-A2A8BB3E0682}"/>
                </a:ext>
              </a:extLst>
            </p:cNvPr>
            <p:cNvSpPr txBox="1"/>
            <p:nvPr/>
          </p:nvSpPr>
          <p:spPr>
            <a:xfrm>
              <a:off x="5253582" y="1414193"/>
              <a:ext cx="49725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600" b="1" dirty="0">
                  <a:solidFill>
                    <a:schemeClr val="bg1"/>
                  </a:solidFill>
                  <a:latin typeface="+mj-ea"/>
                  <a:ea typeface="+mj-ea"/>
                </a:rPr>
                <a:t>4</a:t>
              </a:r>
              <a:endParaRPr lang="ko-KR" altLang="en-US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08C59C0-2ED6-6FD5-50B4-6A5DD4AFA014}"/>
                </a:ext>
              </a:extLst>
            </p:cNvPr>
            <p:cNvSpPr txBox="1"/>
            <p:nvPr/>
          </p:nvSpPr>
          <p:spPr>
            <a:xfrm>
              <a:off x="5253582" y="2043796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>
                  <a:solidFill>
                    <a:schemeClr val="bg1"/>
                  </a:solidFill>
                  <a:latin typeface="+mn-ea"/>
                </a:rPr>
                <a:t>개선사항</a:t>
              </a:r>
            </a:p>
          </p:txBody>
        </p:sp>
      </p:grpSp>
      <p:sp>
        <p:nvSpPr>
          <p:cNvPr id="29" name="타원 28">
            <a:extLst>
              <a:ext uri="{FF2B5EF4-FFF2-40B4-BE49-F238E27FC236}">
                <a16:creationId xmlns:a16="http://schemas.microsoft.com/office/drawing/2014/main" id="{588F49B5-9946-D7D8-182D-8049A1C4A52F}"/>
              </a:ext>
            </a:extLst>
          </p:cNvPr>
          <p:cNvSpPr/>
          <p:nvPr/>
        </p:nvSpPr>
        <p:spPr>
          <a:xfrm>
            <a:off x="4405429" y="-2279621"/>
            <a:ext cx="3381142" cy="338114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50800" dist="12700" dir="2700000" algn="tl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786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D76C6CE-0D6C-F7AA-8CAB-824646E67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39" y="2616532"/>
            <a:ext cx="11317279" cy="2114845"/>
          </a:xfrm>
          <a:prstGeom prst="rect">
            <a:avLst/>
          </a:prstGeom>
        </p:spPr>
      </p:pic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BC61AF80-92A7-433D-B346-F12E34D19AE0}"/>
              </a:ext>
            </a:extLst>
          </p:cNvPr>
          <p:cNvSpPr/>
          <p:nvPr/>
        </p:nvSpPr>
        <p:spPr>
          <a:xfrm>
            <a:off x="6355079" y="1221430"/>
            <a:ext cx="5188369" cy="4905050"/>
          </a:xfrm>
          <a:prstGeom prst="roundRect">
            <a:avLst>
              <a:gd name="adj" fmla="val 17316"/>
            </a:avLst>
          </a:prstGeom>
          <a:solidFill>
            <a:srgbClr val="FFFFFF">
              <a:alpha val="50196"/>
            </a:srgbClr>
          </a:solidFill>
          <a:ln>
            <a:noFill/>
          </a:ln>
          <a:effectLst>
            <a:outerShdw blurRad="254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51F288-60C6-65D6-C285-17D1221A1DA3}"/>
              </a:ext>
            </a:extLst>
          </p:cNvPr>
          <p:cNvSpPr txBox="1"/>
          <p:nvPr/>
        </p:nvSpPr>
        <p:spPr>
          <a:xfrm>
            <a:off x="6627249" y="1804212"/>
            <a:ext cx="5188369" cy="361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배경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24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야구에서는 해마다 특정 선수의 성적 변동폭이 큼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이로 인해 내년 성적을 예측하기 어려움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24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목적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24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2019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타자들의 상반기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OPS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예측하는 모델 개발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2500" dirty="0"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→ </a:t>
            </a:r>
            <a:r>
              <a:rPr lang="ko-KR" altLang="en-US" sz="2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불확실성 문제를 해결 위해</a:t>
            </a:r>
            <a:endParaRPr lang="en-US" altLang="ko-KR" sz="2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2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2019</a:t>
            </a:r>
            <a:r>
              <a:rPr lang="ko-KR" altLang="en-US" sz="2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타자들의 상반기 </a:t>
            </a:r>
            <a:endParaRPr lang="en-US" altLang="ko-KR" sz="2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2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성적 예측</a:t>
            </a:r>
            <a:endParaRPr lang="en-US" altLang="ko-KR" sz="25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782588-5FC8-BEBD-F67A-386070DA0D8D}"/>
              </a:ext>
            </a:extLst>
          </p:cNvPr>
          <p:cNvSpPr txBox="1"/>
          <p:nvPr/>
        </p:nvSpPr>
        <p:spPr>
          <a:xfrm>
            <a:off x="717131" y="423167"/>
            <a:ext cx="9444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Part 1  | </a:t>
            </a:r>
            <a:endParaRPr lang="ko-KR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CB9942F-551B-5326-E05C-B31B5AA5D080}"/>
              </a:ext>
            </a:extLst>
          </p:cNvPr>
          <p:cNvSpPr txBox="1"/>
          <p:nvPr/>
        </p:nvSpPr>
        <p:spPr>
          <a:xfrm>
            <a:off x="1550110" y="423167"/>
            <a:ext cx="10518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대회 소개</a:t>
            </a:r>
          </a:p>
        </p:txBody>
      </p:sp>
    </p:spTree>
    <p:extLst>
      <p:ext uri="{BB962C8B-B14F-4D97-AF65-F5344CB8AC3E}">
        <p14:creationId xmlns:p14="http://schemas.microsoft.com/office/powerpoint/2010/main" val="1095490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8C68E7-AFC3-A426-E4B7-2BBDF2B97387}"/>
              </a:ext>
            </a:extLst>
          </p:cNvPr>
          <p:cNvSpPr txBox="1"/>
          <p:nvPr/>
        </p:nvSpPr>
        <p:spPr>
          <a:xfrm>
            <a:off x="602988" y="516746"/>
            <a:ext cx="20417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Part 2  | </a:t>
            </a:r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데이터 소개</a:t>
            </a: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endParaRPr lang="ko-KR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8A33DC-5447-3BC1-3ACA-486A4687A769}"/>
              </a:ext>
            </a:extLst>
          </p:cNvPr>
          <p:cNvSpPr txBox="1"/>
          <p:nvPr/>
        </p:nvSpPr>
        <p:spPr>
          <a:xfrm>
            <a:off x="405397" y="4555047"/>
            <a:ext cx="26856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타자들의 역대 정규시즌 성적을 포함하여 </a:t>
            </a:r>
            <a:endParaRPr lang="en-US" altLang="ko-KR" dirty="0"/>
          </a:p>
          <a:p>
            <a:pPr algn="ctr"/>
            <a:r>
              <a:rPr lang="ko-KR" altLang="en-US" dirty="0"/>
              <a:t>몸무게</a:t>
            </a:r>
            <a:r>
              <a:rPr lang="en-US" altLang="ko-KR" dirty="0"/>
              <a:t>, </a:t>
            </a:r>
            <a:r>
              <a:rPr lang="ko-KR" altLang="en-US" dirty="0"/>
              <a:t>키 </a:t>
            </a:r>
            <a:r>
              <a:rPr lang="en-US" altLang="ko-KR" dirty="0"/>
              <a:t>,</a:t>
            </a:r>
            <a:r>
              <a:rPr lang="ko-KR" altLang="en-US" dirty="0"/>
              <a:t>생년월일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A493A7-0511-B81D-C178-D3A6F81A31F5}"/>
              </a:ext>
            </a:extLst>
          </p:cNvPr>
          <p:cNvGrpSpPr/>
          <p:nvPr/>
        </p:nvGrpSpPr>
        <p:grpSpPr>
          <a:xfrm>
            <a:off x="633335" y="1859202"/>
            <a:ext cx="2229769" cy="2325142"/>
            <a:chOff x="633335" y="1859202"/>
            <a:chExt cx="2229769" cy="2325142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9B2DDF25-BC86-2B28-B621-10D1A7AEB87D}"/>
                </a:ext>
              </a:extLst>
            </p:cNvPr>
            <p:cNvSpPr/>
            <p:nvPr/>
          </p:nvSpPr>
          <p:spPr>
            <a:xfrm>
              <a:off x="633335" y="1859202"/>
              <a:ext cx="2229769" cy="232514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12700" dir="2700000" algn="t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9" name="그래픽 18" descr="인공 지능 단색으로 채워진">
              <a:extLst>
                <a:ext uri="{FF2B5EF4-FFF2-40B4-BE49-F238E27FC236}">
                  <a16:creationId xmlns:a16="http://schemas.microsoft.com/office/drawing/2014/main" id="{C1F95E01-C15E-7724-897F-FD01EAC6F4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6985" y="2229905"/>
              <a:ext cx="1595856" cy="1595856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D9134149-4A33-AE83-FB8E-735C081E8187}"/>
              </a:ext>
            </a:extLst>
          </p:cNvPr>
          <p:cNvGrpSpPr/>
          <p:nvPr/>
        </p:nvGrpSpPr>
        <p:grpSpPr>
          <a:xfrm>
            <a:off x="6451456" y="1811430"/>
            <a:ext cx="2229769" cy="2325142"/>
            <a:chOff x="6451456" y="1811430"/>
            <a:chExt cx="2229769" cy="232514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1AFDBB70-40BF-49BB-4EF1-377E7F1FE7BF}"/>
                </a:ext>
              </a:extLst>
            </p:cNvPr>
            <p:cNvSpPr/>
            <p:nvPr/>
          </p:nvSpPr>
          <p:spPr>
            <a:xfrm>
              <a:off x="6451456" y="1811430"/>
              <a:ext cx="2229769" cy="232514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12700" dir="2700000" algn="t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1" name="그래픽 20" descr="흡기 방식 단색으로 채워진">
              <a:extLst>
                <a:ext uri="{FF2B5EF4-FFF2-40B4-BE49-F238E27FC236}">
                  <a16:creationId xmlns:a16="http://schemas.microsoft.com/office/drawing/2014/main" id="{40A35E10-BD81-0AAF-5C35-3053017563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794197" y="2316933"/>
              <a:ext cx="1374028" cy="1374028"/>
            </a:xfrm>
            <a:prstGeom prst="rect">
              <a:avLst/>
            </a:prstGeom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5CEB892-2E25-7A58-5F53-DF6B6AEA1DD5}"/>
              </a:ext>
            </a:extLst>
          </p:cNvPr>
          <p:cNvGrpSpPr/>
          <p:nvPr/>
        </p:nvGrpSpPr>
        <p:grpSpPr>
          <a:xfrm>
            <a:off x="3502017" y="1811430"/>
            <a:ext cx="2229769" cy="2325142"/>
            <a:chOff x="3502017" y="1811430"/>
            <a:chExt cx="2229769" cy="2325142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93127DBD-8EF3-1F82-95BF-CDE62C270C2C}"/>
                </a:ext>
              </a:extLst>
            </p:cNvPr>
            <p:cNvSpPr/>
            <p:nvPr/>
          </p:nvSpPr>
          <p:spPr>
            <a:xfrm>
              <a:off x="3502017" y="1811430"/>
              <a:ext cx="2229769" cy="232514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12700" dir="2700000" algn="t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3" name="그래픽 22" descr="상자 단색으로 채워진">
              <a:extLst>
                <a:ext uri="{FF2B5EF4-FFF2-40B4-BE49-F238E27FC236}">
                  <a16:creationId xmlns:a16="http://schemas.microsoft.com/office/drawing/2014/main" id="{92969892-8DD0-0217-5CEA-1D4068A1922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835668" y="2229905"/>
              <a:ext cx="1548084" cy="1548084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41C257D-B9F0-1AAF-7AAD-D72DE750DE0A}"/>
              </a:ext>
            </a:extLst>
          </p:cNvPr>
          <p:cNvSpPr txBox="1"/>
          <p:nvPr/>
        </p:nvSpPr>
        <p:spPr>
          <a:xfrm>
            <a:off x="3274079" y="4693546"/>
            <a:ext cx="2685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타자들의 일자별 </a:t>
            </a:r>
            <a:endParaRPr lang="en-US" altLang="ko-KR" dirty="0"/>
          </a:p>
          <a:p>
            <a:pPr algn="ctr"/>
            <a:r>
              <a:rPr lang="ko-KR" altLang="en-US" dirty="0"/>
              <a:t>정규시즌 성적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A712BA-A5DF-96F9-9D9A-CB900A6740F9}"/>
              </a:ext>
            </a:extLst>
          </p:cNvPr>
          <p:cNvSpPr txBox="1"/>
          <p:nvPr/>
        </p:nvSpPr>
        <p:spPr>
          <a:xfrm>
            <a:off x="5869848" y="4628466"/>
            <a:ext cx="33929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타자들의 역대 시범경기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ko-KR" altLang="en-US" dirty="0"/>
              <a:t>정규시즌 직전에 여는 연습경기</a:t>
            </a:r>
            <a:r>
              <a:rPr lang="en-US" altLang="ko-KR" dirty="0"/>
              <a:t>) </a:t>
            </a:r>
            <a:r>
              <a:rPr lang="ko-KR" altLang="en-US" dirty="0"/>
              <a:t>성적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170654-EDA0-3227-54F1-10FF19E8E6A1}"/>
              </a:ext>
            </a:extLst>
          </p:cNvPr>
          <p:cNvSpPr txBox="1"/>
          <p:nvPr/>
        </p:nvSpPr>
        <p:spPr>
          <a:xfrm>
            <a:off x="9104249" y="4416546"/>
            <a:ext cx="29373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참가자들이 예측해야 할 </a:t>
            </a:r>
            <a:endParaRPr lang="en-US" altLang="ko-KR" dirty="0"/>
          </a:p>
          <a:p>
            <a:pPr algn="ctr"/>
            <a:r>
              <a:rPr lang="ko-KR" altLang="en-US" dirty="0"/>
              <a:t>타자의 이름 </a:t>
            </a:r>
            <a:endParaRPr lang="en-US" altLang="ko-KR" dirty="0"/>
          </a:p>
          <a:p>
            <a:pPr algn="ctr"/>
            <a:r>
              <a:rPr lang="en-US" altLang="ko-KR" dirty="0"/>
              <a:t>Or</a:t>
            </a:r>
          </a:p>
          <a:p>
            <a:pPr algn="ctr"/>
            <a:r>
              <a:rPr lang="ko-KR" altLang="en-US" dirty="0"/>
              <a:t> 아이디 목록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32D303C-6C85-8D8D-F27F-290833B18308}"/>
              </a:ext>
            </a:extLst>
          </p:cNvPr>
          <p:cNvGrpSpPr/>
          <p:nvPr/>
        </p:nvGrpSpPr>
        <p:grpSpPr>
          <a:xfrm>
            <a:off x="9400895" y="1811430"/>
            <a:ext cx="2229769" cy="2325142"/>
            <a:chOff x="9400895" y="1811430"/>
            <a:chExt cx="2229769" cy="2325142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C52AD3C2-57E6-8DD2-5B6C-B3663E5A1DF9}"/>
                </a:ext>
              </a:extLst>
            </p:cNvPr>
            <p:cNvSpPr/>
            <p:nvPr/>
          </p:nvSpPr>
          <p:spPr>
            <a:xfrm>
              <a:off x="9400895" y="1811430"/>
              <a:ext cx="2229769" cy="232514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12700" dir="2700000" algn="t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8" name="그래픽 17" descr="도움말 단색으로 채워진">
              <a:extLst>
                <a:ext uri="{FF2B5EF4-FFF2-40B4-BE49-F238E27FC236}">
                  <a16:creationId xmlns:a16="http://schemas.microsoft.com/office/drawing/2014/main" id="{BF18011E-6E9C-4C8F-F4B2-D3AF0FFDD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581509" y="2087503"/>
              <a:ext cx="1868540" cy="1868540"/>
            </a:xfrm>
            <a:prstGeom prst="rect">
              <a:avLst/>
            </a:prstGeom>
          </p:spPr>
        </p:pic>
      </p:grpSp>
      <p:pic>
        <p:nvPicPr>
          <p:cNvPr id="22" name="그림 21">
            <a:extLst>
              <a:ext uri="{FF2B5EF4-FFF2-40B4-BE49-F238E27FC236}">
                <a16:creationId xmlns:a16="http://schemas.microsoft.com/office/drawing/2014/main" id="{0C3D84F4-71BB-5D40-2DE1-C6E23BFC7C3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335" y="979297"/>
            <a:ext cx="10829353" cy="5175318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F4E2BD8A-88E8-7F6D-B867-79572FA6E61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1649" y="1175555"/>
            <a:ext cx="10540701" cy="4506889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97EF3611-EB13-6A51-D550-640533F8D8F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96259" y="695641"/>
            <a:ext cx="2685644" cy="5466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349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15" grpId="0"/>
      <p:bldP spid="15" grpId="1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0703EFFB-2030-E81F-0705-CA0406B895E9}"/>
              </a:ext>
            </a:extLst>
          </p:cNvPr>
          <p:cNvSpPr txBox="1"/>
          <p:nvPr/>
        </p:nvSpPr>
        <p:spPr>
          <a:xfrm>
            <a:off x="717131" y="423167"/>
            <a:ext cx="9733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Part 3  | </a:t>
            </a:r>
            <a:endParaRPr lang="ko-KR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D980E3A-611B-7138-BC59-DA90EE4308A8}"/>
              </a:ext>
            </a:extLst>
          </p:cNvPr>
          <p:cNvSpPr txBox="1"/>
          <p:nvPr/>
        </p:nvSpPr>
        <p:spPr>
          <a:xfrm>
            <a:off x="1550110" y="423167"/>
            <a:ext cx="7553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X </a:t>
            </a:r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피처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86C9CEF-8422-C137-433F-E0D0B5013FA0}"/>
              </a:ext>
            </a:extLst>
          </p:cNvPr>
          <p:cNvSpPr/>
          <p:nvPr/>
        </p:nvSpPr>
        <p:spPr>
          <a:xfrm>
            <a:off x="739382" y="1067138"/>
            <a:ext cx="7217470" cy="52197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E36011AF-D53D-C17A-B412-E55977F5DF7A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1073452" y="3657779"/>
            <a:ext cx="7739192" cy="2633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2E3168AA-C990-0DED-0570-8E3417935B7B}"/>
              </a:ext>
            </a:extLst>
          </p:cNvPr>
          <p:cNvSpPr/>
          <p:nvPr/>
        </p:nvSpPr>
        <p:spPr>
          <a:xfrm>
            <a:off x="8812644" y="1050562"/>
            <a:ext cx="2560508" cy="52197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CD6DA39-A998-E3FB-2B29-1C1FC0068EC3}"/>
              </a:ext>
            </a:extLst>
          </p:cNvPr>
          <p:cNvSpPr/>
          <p:nvPr/>
        </p:nvSpPr>
        <p:spPr>
          <a:xfrm>
            <a:off x="1073452" y="1317262"/>
            <a:ext cx="1903419" cy="937883"/>
          </a:xfrm>
          <a:prstGeom prst="roundRect">
            <a:avLst>
              <a:gd name="adj" fmla="val 22381"/>
            </a:avLst>
          </a:prstGeom>
          <a:solidFill>
            <a:schemeClr val="accent3"/>
          </a:solidFill>
          <a:ln>
            <a:noFill/>
          </a:ln>
          <a:effectLst>
            <a:outerShdw blurRad="50800" dist="12700" dir="2700000" algn="tl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85B714C-DD97-BEE4-4240-AA195483E152}"/>
              </a:ext>
            </a:extLst>
          </p:cNvPr>
          <p:cNvSpPr/>
          <p:nvPr/>
        </p:nvSpPr>
        <p:spPr>
          <a:xfrm>
            <a:off x="3417392" y="1299993"/>
            <a:ext cx="1903419" cy="952520"/>
          </a:xfrm>
          <a:prstGeom prst="roundRect">
            <a:avLst>
              <a:gd name="adj" fmla="val 22381"/>
            </a:avLst>
          </a:prstGeom>
          <a:solidFill>
            <a:schemeClr val="accent3"/>
          </a:solidFill>
          <a:ln>
            <a:noFill/>
          </a:ln>
          <a:effectLst>
            <a:outerShdw blurRad="50800" dist="12700" dir="2700000" algn="tl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687E1DE-DB61-9E3A-91FE-37EC048E4829}"/>
              </a:ext>
            </a:extLst>
          </p:cNvPr>
          <p:cNvSpPr/>
          <p:nvPr/>
        </p:nvSpPr>
        <p:spPr>
          <a:xfrm>
            <a:off x="5761333" y="1317263"/>
            <a:ext cx="1903419" cy="949888"/>
          </a:xfrm>
          <a:prstGeom prst="roundRect">
            <a:avLst>
              <a:gd name="adj" fmla="val 22381"/>
            </a:avLst>
          </a:prstGeom>
          <a:solidFill>
            <a:schemeClr val="accent3"/>
          </a:solidFill>
          <a:ln>
            <a:noFill/>
          </a:ln>
          <a:effectLst>
            <a:outerShdw blurRad="50800" dist="12700" dir="2700000" algn="tl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275827-C8CA-D494-F048-6BB475D1A6E9}"/>
              </a:ext>
            </a:extLst>
          </p:cNvPr>
          <p:cNvSpPr txBox="1"/>
          <p:nvPr/>
        </p:nvSpPr>
        <p:spPr>
          <a:xfrm>
            <a:off x="1104214" y="1455761"/>
            <a:ext cx="18600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Stats</a:t>
            </a:r>
          </a:p>
          <a:p>
            <a:pPr algn="ctr"/>
            <a:r>
              <a:rPr lang="en-US" altLang="ko-KR" dirty="0">
                <a:solidFill>
                  <a:schemeClr val="bg1"/>
                </a:solidFill>
              </a:rPr>
              <a:t>(</a:t>
            </a:r>
            <a:r>
              <a:rPr lang="ko-KR" altLang="en-US" dirty="0">
                <a:solidFill>
                  <a:schemeClr val="bg1"/>
                </a:solidFill>
              </a:rPr>
              <a:t>기본 통계 지표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D87847-88BC-1662-A065-25CE554D4FCD}"/>
              </a:ext>
            </a:extLst>
          </p:cNvPr>
          <p:cNvSpPr txBox="1"/>
          <p:nvPr/>
        </p:nvSpPr>
        <p:spPr>
          <a:xfrm>
            <a:off x="3373253" y="1317262"/>
            <a:ext cx="19916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>
                <a:solidFill>
                  <a:schemeClr val="bg1"/>
                </a:solidFill>
              </a:rPr>
              <a:t>stats_cum</a:t>
            </a:r>
            <a:r>
              <a:rPr lang="en-US" altLang="ko-KR" dirty="0">
                <a:solidFill>
                  <a:schemeClr val="bg1"/>
                </a:solidFill>
              </a:rPr>
              <a:t>, stats_lag1~2</a:t>
            </a:r>
          </a:p>
          <a:p>
            <a:pPr algn="ctr"/>
            <a:r>
              <a:rPr lang="en-US" altLang="ko-KR" dirty="0">
                <a:solidFill>
                  <a:schemeClr val="bg1"/>
                </a:solidFill>
              </a:rPr>
              <a:t>(</a:t>
            </a:r>
            <a:r>
              <a:rPr lang="ko-KR" altLang="en-US" dirty="0">
                <a:solidFill>
                  <a:schemeClr val="bg1"/>
                </a:solidFill>
              </a:rPr>
              <a:t>시계열 파생 변수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350894-6F18-44B2-BF9B-727FCF68767D}"/>
              </a:ext>
            </a:extLst>
          </p:cNvPr>
          <p:cNvSpPr txBox="1"/>
          <p:nvPr/>
        </p:nvSpPr>
        <p:spPr>
          <a:xfrm>
            <a:off x="5624726" y="1501030"/>
            <a:ext cx="2176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>
                <a:solidFill>
                  <a:schemeClr val="bg1"/>
                </a:solidFill>
              </a:rPr>
              <a:t>Stats_position</a:t>
            </a:r>
            <a:endParaRPr lang="en-US" altLang="ko-KR" dirty="0">
              <a:solidFill>
                <a:schemeClr val="bg1"/>
              </a:solidFill>
            </a:endParaRPr>
          </a:p>
          <a:p>
            <a:pPr algn="ctr"/>
            <a:r>
              <a:rPr lang="en-US" altLang="ko-KR" dirty="0">
                <a:solidFill>
                  <a:schemeClr val="bg1"/>
                </a:solidFill>
              </a:rPr>
              <a:t>(</a:t>
            </a:r>
            <a:r>
              <a:rPr lang="ko-KR" altLang="en-US" dirty="0">
                <a:solidFill>
                  <a:schemeClr val="bg1"/>
                </a:solidFill>
              </a:rPr>
              <a:t>포지션 더미 변수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F96557-2F20-20D7-9E08-92AF89DD9BEC}"/>
              </a:ext>
            </a:extLst>
          </p:cNvPr>
          <p:cNvSpPr txBox="1"/>
          <p:nvPr/>
        </p:nvSpPr>
        <p:spPr>
          <a:xfrm>
            <a:off x="9128818" y="1423854"/>
            <a:ext cx="20036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err="1">
                <a:solidFill>
                  <a:schemeClr val="bg1"/>
                </a:solidFill>
                <a:latin typeface="+mj-ea"/>
                <a:ea typeface="+mj-ea"/>
              </a:rPr>
              <a:t>X_cols</a:t>
            </a:r>
            <a:endParaRPr lang="en-US" altLang="ko-KR" sz="20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+mj-ea"/>
                <a:ea typeface="+mj-ea"/>
              </a:rPr>
              <a:t>최종 </a:t>
            </a:r>
            <a:r>
              <a:rPr lang="en-US" altLang="ko-KR" sz="2000" b="1" dirty="0">
                <a:solidFill>
                  <a:schemeClr val="bg1"/>
                </a:solidFill>
                <a:latin typeface="+mj-ea"/>
                <a:ea typeface="+mj-ea"/>
              </a:rPr>
              <a:t>x</a:t>
            </a:r>
            <a:r>
              <a:rPr lang="ko-KR" altLang="en-US" sz="2000" b="1" dirty="0">
                <a:solidFill>
                  <a:schemeClr val="bg1"/>
                </a:solidFill>
                <a:latin typeface="+mj-ea"/>
                <a:ea typeface="+mj-ea"/>
              </a:rPr>
              <a:t>피처</a:t>
            </a:r>
            <a:r>
              <a:rPr lang="en-US" altLang="ko-KR" sz="2000" b="1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911BD7-E096-52BC-2252-5F7416BD06AD}"/>
              </a:ext>
            </a:extLst>
          </p:cNvPr>
          <p:cNvSpPr txBox="1"/>
          <p:nvPr/>
        </p:nvSpPr>
        <p:spPr>
          <a:xfrm>
            <a:off x="9042348" y="2267151"/>
            <a:ext cx="217663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ko-KR" dirty="0">
              <a:solidFill>
                <a:schemeClr val="bg1"/>
              </a:solidFill>
            </a:endParaRPr>
          </a:p>
          <a:p>
            <a:pPr algn="ctr"/>
            <a:r>
              <a:rPr lang="en-US" altLang="ko-KR" dirty="0" err="1">
                <a:solidFill>
                  <a:schemeClr val="bg1"/>
                </a:solidFill>
              </a:rPr>
              <a:t>X_cols</a:t>
            </a:r>
            <a:r>
              <a:rPr lang="en-US" altLang="ko-KR" dirty="0">
                <a:solidFill>
                  <a:schemeClr val="bg1"/>
                </a:solidFill>
              </a:rPr>
              <a:t> = </a:t>
            </a:r>
          </a:p>
          <a:p>
            <a:pPr algn="ctr"/>
            <a:r>
              <a:rPr lang="en-US" altLang="ko-KR" dirty="0">
                <a:solidFill>
                  <a:schemeClr val="bg1"/>
                </a:solidFill>
              </a:rPr>
              <a:t>stats + </a:t>
            </a:r>
          </a:p>
          <a:p>
            <a:pPr algn="ctr"/>
            <a:r>
              <a:rPr lang="en-US" altLang="ko-KR" dirty="0" err="1">
                <a:solidFill>
                  <a:schemeClr val="bg1"/>
                </a:solidFill>
              </a:rPr>
              <a:t>stats_cum</a:t>
            </a:r>
            <a:r>
              <a:rPr lang="en-US" altLang="ko-KR" dirty="0">
                <a:solidFill>
                  <a:schemeClr val="bg1"/>
                </a:solidFill>
              </a:rPr>
              <a:t> + stats_lag1 + stats_lag2 + </a:t>
            </a:r>
            <a:r>
              <a:rPr lang="en-US" altLang="ko-KR" dirty="0" err="1">
                <a:solidFill>
                  <a:schemeClr val="bg1"/>
                </a:solidFill>
              </a:rPr>
              <a:t>stats_position</a:t>
            </a:r>
            <a:r>
              <a:rPr lang="en-US" altLang="ko-KR" dirty="0">
                <a:solidFill>
                  <a:schemeClr val="bg1"/>
                </a:solidFill>
              </a:rPr>
              <a:t> + </a:t>
            </a:r>
          </a:p>
          <a:p>
            <a:pPr algn="ctr"/>
            <a:r>
              <a:rPr lang="en-US" altLang="ko-KR" dirty="0">
                <a:solidFill>
                  <a:schemeClr val="bg1"/>
                </a:solidFill>
              </a:rPr>
              <a:t>['</a:t>
            </a:r>
            <a:r>
              <a:rPr lang="ko-KR" altLang="en-US" dirty="0">
                <a:solidFill>
                  <a:schemeClr val="bg1"/>
                </a:solidFill>
              </a:rPr>
              <a:t>나이</a:t>
            </a:r>
            <a:r>
              <a:rPr lang="en-US" altLang="ko-KR" dirty="0">
                <a:solidFill>
                  <a:schemeClr val="bg1"/>
                </a:solidFill>
              </a:rPr>
              <a:t>’]</a:t>
            </a:r>
          </a:p>
          <a:p>
            <a:pPr algn="ctr"/>
            <a:endParaRPr lang="en-US" altLang="ko-KR" dirty="0">
              <a:solidFill>
                <a:schemeClr val="bg1"/>
              </a:solidFill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 총 </a:t>
            </a:r>
            <a:r>
              <a:rPr lang="en-US" altLang="ko-K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101</a:t>
            </a:r>
            <a:r>
              <a:rPr lang="ko-KR" alt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개</a:t>
            </a:r>
            <a:endParaRPr lang="en-US" altLang="ko-KR" dirty="0">
              <a:solidFill>
                <a:schemeClr val="bg1"/>
              </a:solidFill>
            </a:endParaRPr>
          </a:p>
          <a:p>
            <a:pPr algn="ctr"/>
            <a:endParaRPr lang="en-US" altLang="ko-KR" dirty="0">
              <a:solidFill>
                <a:schemeClr val="bg1"/>
              </a:solidFill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96EE49D9-8C63-03FF-4F3B-DD5870EA7CAA}"/>
              </a:ext>
            </a:extLst>
          </p:cNvPr>
          <p:cNvSpPr/>
          <p:nvPr/>
        </p:nvSpPr>
        <p:spPr>
          <a:xfrm>
            <a:off x="1060863" y="2457604"/>
            <a:ext cx="1903419" cy="3812658"/>
          </a:xfrm>
          <a:prstGeom prst="roundRect">
            <a:avLst>
              <a:gd name="adj" fmla="val 22381"/>
            </a:avLst>
          </a:prstGeom>
          <a:solidFill>
            <a:schemeClr val="accent3"/>
          </a:solidFill>
          <a:ln>
            <a:noFill/>
          </a:ln>
          <a:effectLst>
            <a:outerShdw blurRad="50800" dist="12700" dir="2700000" algn="tl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/>
              <a:t>stats =</a:t>
            </a:r>
            <a:r>
              <a:rPr lang="ko-KR" altLang="en-US" sz="1300" dirty="0"/>
              <a:t> </a:t>
            </a:r>
            <a:endParaRPr lang="en-US" altLang="ko-KR" sz="1300" dirty="0"/>
          </a:p>
          <a:p>
            <a:pPr algn="ctr"/>
            <a:r>
              <a:rPr lang="en-US" altLang="ko-KR" sz="1300" dirty="0"/>
              <a:t>['G','</a:t>
            </a:r>
            <a:r>
              <a:rPr lang="ko-KR" altLang="en-US" sz="1300" dirty="0"/>
              <a:t>타수</a:t>
            </a:r>
            <a:r>
              <a:rPr lang="en-US" altLang="ko-KR" sz="1300" dirty="0"/>
              <a:t>','</a:t>
            </a:r>
            <a:r>
              <a:rPr lang="ko-KR" altLang="en-US" sz="1300" dirty="0"/>
              <a:t>득점</a:t>
            </a:r>
            <a:r>
              <a:rPr lang="en-US" altLang="ko-KR" sz="1300" dirty="0"/>
              <a:t>','</a:t>
            </a:r>
            <a:r>
              <a:rPr lang="ko-KR" altLang="en-US" sz="1300" dirty="0"/>
              <a:t>안타</a:t>
            </a:r>
            <a:r>
              <a:rPr lang="en-US" altLang="ko-KR" sz="1300" dirty="0"/>
              <a:t>','1</a:t>
            </a:r>
            <a:r>
              <a:rPr lang="ko-KR" altLang="en-US" sz="1300" dirty="0"/>
              <a:t>타</a:t>
            </a:r>
            <a:r>
              <a:rPr lang="en-US" altLang="ko-KR" sz="1300" dirty="0"/>
              <a:t>','2</a:t>
            </a:r>
            <a:r>
              <a:rPr lang="ko-KR" altLang="en-US" sz="1300" dirty="0"/>
              <a:t>타</a:t>
            </a:r>
            <a:r>
              <a:rPr lang="en-US" altLang="ko-KR" sz="1300" dirty="0"/>
              <a:t>','3</a:t>
            </a:r>
            <a:r>
              <a:rPr lang="ko-KR" altLang="en-US" sz="1300" dirty="0"/>
              <a:t>타</a:t>
            </a:r>
            <a:r>
              <a:rPr lang="en-US" altLang="ko-KR" sz="1300" dirty="0"/>
              <a:t>','</a:t>
            </a:r>
            <a:r>
              <a:rPr lang="ko-KR" altLang="en-US" sz="1300" dirty="0"/>
              <a:t>홈런</a:t>
            </a:r>
            <a:r>
              <a:rPr lang="en-US" altLang="ko-KR" sz="1300" dirty="0"/>
              <a:t>','</a:t>
            </a:r>
            <a:r>
              <a:rPr lang="ko-KR" altLang="en-US" sz="1300" dirty="0" err="1"/>
              <a:t>루타</a:t>
            </a:r>
            <a:r>
              <a:rPr lang="en-US" altLang="ko-KR" sz="1300" dirty="0"/>
              <a:t>','</a:t>
            </a:r>
            <a:r>
              <a:rPr lang="ko-KR" altLang="en-US" sz="1300" dirty="0"/>
              <a:t>타점</a:t>
            </a:r>
            <a:r>
              <a:rPr lang="en-US" altLang="ko-KR" sz="1300" dirty="0"/>
              <a:t>','</a:t>
            </a:r>
            <a:r>
              <a:rPr lang="ko-KR" altLang="en-US" sz="1300" dirty="0"/>
              <a:t>도루</a:t>
            </a:r>
            <a:r>
              <a:rPr lang="en-US" altLang="ko-KR" sz="1300" dirty="0"/>
              <a:t>','</a:t>
            </a:r>
            <a:r>
              <a:rPr lang="ko-KR" altLang="en-US" sz="1300" dirty="0"/>
              <a:t>도실</a:t>
            </a:r>
            <a:r>
              <a:rPr lang="en-US" altLang="ko-KR" sz="1300" dirty="0"/>
              <a:t>','</a:t>
            </a:r>
            <a:r>
              <a:rPr lang="ko-KR" altLang="en-US" sz="1300" dirty="0"/>
              <a:t>볼넷</a:t>
            </a:r>
            <a:r>
              <a:rPr lang="en-US" altLang="ko-KR" sz="1300" dirty="0"/>
              <a:t>','</a:t>
            </a:r>
            <a:r>
              <a:rPr lang="ko-KR" altLang="en-US" sz="1300" dirty="0"/>
              <a:t>사구</a:t>
            </a:r>
            <a:r>
              <a:rPr lang="en-US" altLang="ko-KR" sz="1300" dirty="0"/>
              <a:t>','</a:t>
            </a:r>
            <a:r>
              <a:rPr lang="ko-KR" altLang="en-US" sz="1300" dirty="0"/>
              <a:t>고</a:t>
            </a:r>
            <a:r>
              <a:rPr lang="en-US" altLang="ko-KR" sz="1300" dirty="0"/>
              <a:t>4','</a:t>
            </a:r>
            <a:r>
              <a:rPr lang="ko-KR" altLang="en-US" sz="1300" dirty="0"/>
              <a:t>삼진</a:t>
            </a:r>
            <a:r>
              <a:rPr lang="en-US" altLang="ko-KR" sz="1300" dirty="0"/>
              <a:t>'\ ,'</a:t>
            </a:r>
            <a:r>
              <a:rPr lang="ko-KR" altLang="en-US" sz="1300" dirty="0"/>
              <a:t>병살</a:t>
            </a:r>
            <a:r>
              <a:rPr lang="en-US" altLang="ko-KR" sz="1300" dirty="0"/>
              <a:t>','</a:t>
            </a:r>
            <a:r>
              <a:rPr lang="ko-KR" altLang="en-US" sz="1300" dirty="0" err="1"/>
              <a:t>희타</a:t>
            </a:r>
            <a:r>
              <a:rPr lang="en-US" altLang="ko-KR" sz="1300" dirty="0"/>
              <a:t>','</a:t>
            </a:r>
            <a:r>
              <a:rPr lang="ko-KR" altLang="en-US" sz="1300" dirty="0"/>
              <a:t>희비</a:t>
            </a:r>
            <a:r>
              <a:rPr lang="en-US" altLang="ko-KR" sz="1300" dirty="0"/>
              <a:t>','</a:t>
            </a:r>
            <a:r>
              <a:rPr lang="ko-KR" altLang="en-US" sz="1300" dirty="0"/>
              <a:t>타율</a:t>
            </a:r>
            <a:r>
              <a:rPr lang="en-US" altLang="ko-KR" sz="1300" dirty="0"/>
              <a:t>','</a:t>
            </a:r>
            <a:r>
              <a:rPr lang="ko-KR" altLang="en-US" sz="1300" dirty="0"/>
              <a:t>출루</a:t>
            </a:r>
            <a:r>
              <a:rPr lang="en-US" altLang="ko-KR" sz="1300" dirty="0"/>
              <a:t>','</a:t>
            </a:r>
            <a:r>
              <a:rPr lang="ko-KR" altLang="en-US" sz="1300" dirty="0"/>
              <a:t>장타</a:t>
            </a:r>
            <a:r>
              <a:rPr lang="en-US" altLang="ko-KR" sz="1300" dirty="0"/>
              <a:t>','OPS’]</a:t>
            </a:r>
          </a:p>
          <a:p>
            <a:pPr algn="ctr"/>
            <a:endParaRPr lang="en-US" altLang="ko-KR" sz="1300" dirty="0"/>
          </a:p>
          <a:p>
            <a:pPr algn="ctr"/>
            <a:r>
              <a:rPr lang="ko-KR" altLang="en-US" sz="1300" dirty="0"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altLang="ko-KR" sz="1300" dirty="0">
                <a:latin typeface="Calibri" panose="020F0502020204030204" pitchFamily="34" charset="0"/>
                <a:cs typeface="Calibri" panose="020F0502020204030204" pitchFamily="34" charset="0"/>
              </a:rPr>
              <a:t>23</a:t>
            </a:r>
            <a:r>
              <a:rPr lang="ko-KR" altLang="en-US" sz="1300" dirty="0">
                <a:latin typeface="Calibri" panose="020F0502020204030204" pitchFamily="34" charset="0"/>
                <a:cs typeface="Calibri" panose="020F0502020204030204" pitchFamily="34" charset="0"/>
              </a:rPr>
              <a:t>개</a:t>
            </a:r>
            <a:endParaRPr lang="ko-KR" altLang="en-US" sz="1300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29FB2C0-C6BC-6CA4-6948-11E202DFE7B6}"/>
              </a:ext>
            </a:extLst>
          </p:cNvPr>
          <p:cNvSpPr/>
          <p:nvPr/>
        </p:nvSpPr>
        <p:spPr>
          <a:xfrm>
            <a:off x="3417392" y="2480141"/>
            <a:ext cx="1903419" cy="3812658"/>
          </a:xfrm>
          <a:prstGeom prst="roundRect">
            <a:avLst>
              <a:gd name="adj" fmla="val 22381"/>
            </a:avLst>
          </a:prstGeom>
          <a:solidFill>
            <a:schemeClr val="accent3"/>
          </a:solidFill>
          <a:ln>
            <a:noFill/>
          </a:ln>
          <a:effectLst>
            <a:outerShdw blurRad="50800" dist="12700" dir="2700000" algn="tl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 err="1"/>
              <a:t>s</a:t>
            </a:r>
            <a:r>
              <a:rPr lang="en-US" altLang="ko-KR" sz="1300" b="1" dirty="0" err="1"/>
              <a:t>tats_cum</a:t>
            </a:r>
            <a:r>
              <a:rPr lang="en-US" altLang="ko-KR" sz="1300" b="1" dirty="0"/>
              <a:t> = </a:t>
            </a:r>
          </a:p>
          <a:p>
            <a:pPr algn="ctr"/>
            <a:r>
              <a:rPr lang="en-US" altLang="ko-KR" sz="1300" dirty="0"/>
              <a:t>[</a:t>
            </a:r>
            <a:r>
              <a:rPr lang="en-US" altLang="ko-KR" sz="1300" dirty="0" err="1"/>
              <a:t>i</a:t>
            </a:r>
            <a:r>
              <a:rPr lang="en-US" altLang="ko-KR" sz="1300" dirty="0"/>
              <a:t> + '_</a:t>
            </a:r>
            <a:r>
              <a:rPr lang="ko-KR" altLang="en-US" sz="1300" dirty="0"/>
              <a:t>누적</a:t>
            </a:r>
            <a:r>
              <a:rPr lang="en-US" altLang="ko-KR" sz="1300" dirty="0"/>
              <a:t>'</a:t>
            </a:r>
            <a:r>
              <a:rPr lang="ko-KR" altLang="en-US" sz="1300" dirty="0"/>
              <a:t> </a:t>
            </a:r>
            <a:r>
              <a:rPr lang="en-US" altLang="ko-KR" sz="1300" dirty="0"/>
              <a:t>for </a:t>
            </a:r>
            <a:r>
              <a:rPr lang="en-US" altLang="ko-KR" sz="1300" dirty="0" err="1"/>
              <a:t>i</a:t>
            </a:r>
            <a:r>
              <a:rPr lang="en-US" altLang="ko-KR" sz="1300" dirty="0"/>
              <a:t> in stats] </a:t>
            </a:r>
          </a:p>
          <a:p>
            <a:pPr algn="ctr"/>
            <a:r>
              <a:rPr lang="ko-KR" altLang="en-US" sz="1300" dirty="0"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altLang="ko-KR" sz="1300" dirty="0">
                <a:latin typeface="Calibri" panose="020F0502020204030204" pitchFamily="34" charset="0"/>
                <a:cs typeface="Calibri" panose="020F0502020204030204" pitchFamily="34" charset="0"/>
              </a:rPr>
              <a:t>23</a:t>
            </a:r>
            <a:r>
              <a:rPr lang="ko-KR" altLang="en-US" sz="1300" dirty="0">
                <a:latin typeface="Calibri" panose="020F0502020204030204" pitchFamily="34" charset="0"/>
                <a:cs typeface="Calibri" panose="020F0502020204030204" pitchFamily="34" charset="0"/>
              </a:rPr>
              <a:t>개</a:t>
            </a:r>
            <a:endParaRPr lang="en-US" altLang="ko-KR" sz="1300" dirty="0"/>
          </a:p>
          <a:p>
            <a:pPr algn="ctr"/>
            <a:endParaRPr lang="en-US" altLang="ko-KR" sz="1300" dirty="0"/>
          </a:p>
          <a:p>
            <a:pPr algn="ctr"/>
            <a:r>
              <a:rPr lang="en-US" altLang="ko-KR" sz="1300" b="1" dirty="0"/>
              <a:t>stats_lag1 </a:t>
            </a:r>
            <a:r>
              <a:rPr lang="en-US" altLang="ko-KR" sz="1300" dirty="0"/>
              <a:t>=</a:t>
            </a:r>
          </a:p>
          <a:p>
            <a:pPr algn="ctr"/>
            <a:r>
              <a:rPr lang="en-US" altLang="ko-KR" sz="1300" dirty="0"/>
              <a:t> [</a:t>
            </a:r>
            <a:r>
              <a:rPr lang="en-US" altLang="ko-KR" sz="1300" dirty="0" err="1"/>
              <a:t>i</a:t>
            </a:r>
            <a:r>
              <a:rPr lang="en-US" altLang="ko-KR" sz="1300" dirty="0"/>
              <a:t> + '_LAG1' for </a:t>
            </a:r>
            <a:r>
              <a:rPr lang="en-US" altLang="ko-KR" sz="1300" dirty="0" err="1"/>
              <a:t>i</a:t>
            </a:r>
            <a:r>
              <a:rPr lang="en-US" altLang="ko-KR" sz="1300" dirty="0"/>
              <a:t> in stats] </a:t>
            </a:r>
          </a:p>
          <a:p>
            <a:pPr algn="ctr"/>
            <a:r>
              <a:rPr lang="ko-KR" altLang="en-US" sz="1300" dirty="0"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altLang="ko-KR" sz="1300" dirty="0">
                <a:latin typeface="Calibri" panose="020F0502020204030204" pitchFamily="34" charset="0"/>
                <a:cs typeface="Calibri" panose="020F0502020204030204" pitchFamily="34" charset="0"/>
              </a:rPr>
              <a:t>23</a:t>
            </a:r>
            <a:r>
              <a:rPr lang="ko-KR" altLang="en-US" sz="1300" dirty="0">
                <a:latin typeface="Calibri" panose="020F0502020204030204" pitchFamily="34" charset="0"/>
                <a:cs typeface="Calibri" panose="020F0502020204030204" pitchFamily="34" charset="0"/>
              </a:rPr>
              <a:t>개</a:t>
            </a:r>
            <a:endParaRPr lang="en-US" altLang="ko-KR" sz="13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altLang="ko-KR" sz="1300" dirty="0"/>
          </a:p>
          <a:p>
            <a:pPr algn="ctr"/>
            <a:r>
              <a:rPr lang="en-US" altLang="ko-KR" sz="1300" dirty="0"/>
              <a:t>stats_lag2 = </a:t>
            </a:r>
          </a:p>
          <a:p>
            <a:pPr algn="ctr"/>
            <a:r>
              <a:rPr lang="en-US" altLang="ko-KR" sz="1300" dirty="0"/>
              <a:t>[</a:t>
            </a:r>
            <a:r>
              <a:rPr lang="en-US" altLang="ko-KR" sz="1300" dirty="0" err="1"/>
              <a:t>i</a:t>
            </a:r>
            <a:r>
              <a:rPr lang="en-US" altLang="ko-KR" sz="1300" dirty="0"/>
              <a:t> + '_LAG2' for </a:t>
            </a:r>
            <a:r>
              <a:rPr lang="en-US" altLang="ko-KR" sz="1300" dirty="0" err="1"/>
              <a:t>i</a:t>
            </a:r>
            <a:r>
              <a:rPr lang="en-US" altLang="ko-KR" sz="1300" dirty="0"/>
              <a:t> in stats] </a:t>
            </a:r>
          </a:p>
          <a:p>
            <a:pPr algn="ctr"/>
            <a:r>
              <a:rPr lang="ko-KR" altLang="en-US" sz="1300" dirty="0"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altLang="ko-KR" sz="1300" dirty="0">
                <a:latin typeface="Calibri" panose="020F0502020204030204" pitchFamily="34" charset="0"/>
                <a:cs typeface="Calibri" panose="020F0502020204030204" pitchFamily="34" charset="0"/>
              </a:rPr>
              <a:t>23</a:t>
            </a:r>
            <a:r>
              <a:rPr lang="ko-KR" altLang="en-US" sz="1300" dirty="0">
                <a:latin typeface="Calibri" panose="020F0502020204030204" pitchFamily="34" charset="0"/>
                <a:cs typeface="Calibri" panose="020F0502020204030204" pitchFamily="34" charset="0"/>
              </a:rPr>
              <a:t>개</a:t>
            </a:r>
            <a:endParaRPr lang="ko-KR" altLang="en-US" sz="1300" dirty="0"/>
          </a:p>
          <a:p>
            <a:pPr algn="ctr"/>
            <a:endParaRPr lang="en-US" altLang="ko-KR" sz="1300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1D00CAB-404F-5FAB-16C8-B31C34ED2F07}"/>
              </a:ext>
            </a:extLst>
          </p:cNvPr>
          <p:cNvSpPr/>
          <p:nvPr/>
        </p:nvSpPr>
        <p:spPr>
          <a:xfrm>
            <a:off x="5748654" y="2474180"/>
            <a:ext cx="1903419" cy="3812658"/>
          </a:xfrm>
          <a:prstGeom prst="roundRect">
            <a:avLst>
              <a:gd name="adj" fmla="val 22381"/>
            </a:avLst>
          </a:prstGeom>
          <a:solidFill>
            <a:schemeClr val="accent3"/>
          </a:solidFill>
          <a:ln>
            <a:noFill/>
          </a:ln>
          <a:effectLst>
            <a:outerShdw blurRad="50800" dist="12700" dir="2700000" algn="tl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 err="1"/>
              <a:t>stats_position</a:t>
            </a:r>
            <a:r>
              <a:rPr lang="en-US" altLang="ko-KR" sz="1300" dirty="0"/>
              <a:t> = </a:t>
            </a:r>
          </a:p>
          <a:p>
            <a:pPr algn="ctr"/>
            <a:r>
              <a:rPr lang="en-US" altLang="ko-KR" sz="1300" dirty="0"/>
              <a:t>['2B', '3B', 'C', 'CF', 'DH', 'LF', 'RF', 'SS’] </a:t>
            </a:r>
          </a:p>
          <a:p>
            <a:pPr algn="ctr"/>
            <a:r>
              <a:rPr lang="ko-KR" altLang="en-US" sz="1300" dirty="0"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altLang="ko-KR" sz="13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  <a:r>
              <a:rPr lang="ko-KR" altLang="en-US" sz="1300" dirty="0">
                <a:latin typeface="Calibri" panose="020F0502020204030204" pitchFamily="34" charset="0"/>
                <a:cs typeface="Calibri" panose="020F0502020204030204" pitchFamily="34" charset="0"/>
              </a:rPr>
              <a:t>개</a:t>
            </a:r>
            <a:endParaRPr lang="en-US" altLang="ko-KR" sz="13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altLang="ko-KR" sz="13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ko-KR" altLang="en-US" sz="1300" dirty="0">
                <a:latin typeface="Calibri" panose="020F0502020204030204" pitchFamily="34" charset="0"/>
                <a:cs typeface="Calibri" panose="020F0502020204030204" pitchFamily="34" charset="0"/>
              </a:rPr>
              <a:t>이외</a:t>
            </a:r>
            <a:r>
              <a:rPr lang="en-US" altLang="ko-KR" sz="1300" dirty="0">
                <a:latin typeface="Calibri" panose="020F0502020204030204" pitchFamily="34" charset="0"/>
                <a:cs typeface="Calibri" panose="020F0502020204030204" pitchFamily="34" charset="0"/>
              </a:rPr>
              <a:t>.. [‘</a:t>
            </a:r>
            <a:r>
              <a:rPr lang="ko-KR" altLang="en-US" sz="1300" dirty="0">
                <a:latin typeface="Calibri" panose="020F0502020204030204" pitchFamily="34" charset="0"/>
                <a:cs typeface="Calibri" panose="020F0502020204030204" pitchFamily="34" charset="0"/>
              </a:rPr>
              <a:t>나이</a:t>
            </a:r>
            <a:r>
              <a:rPr lang="en-US" altLang="ko-KR" sz="1300" dirty="0">
                <a:latin typeface="Calibri" panose="020F0502020204030204" pitchFamily="34" charset="0"/>
                <a:cs typeface="Calibri" panose="020F0502020204030204" pitchFamily="34" charset="0"/>
              </a:rPr>
              <a:t>’]</a:t>
            </a:r>
          </a:p>
          <a:p>
            <a:pPr algn="ctr"/>
            <a:r>
              <a:rPr lang="ko-KR" altLang="en-US" sz="1300" dirty="0"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altLang="ko-KR" sz="13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ko-KR" altLang="en-US" sz="1300" dirty="0">
                <a:latin typeface="Calibri" panose="020F0502020204030204" pitchFamily="34" charset="0"/>
                <a:cs typeface="Calibri" panose="020F0502020204030204" pitchFamily="34" charset="0"/>
              </a:rPr>
              <a:t>개</a:t>
            </a:r>
            <a:endParaRPr lang="en-US" altLang="ko-KR" sz="1300" dirty="0"/>
          </a:p>
        </p:txBody>
      </p:sp>
    </p:spTree>
    <p:extLst>
      <p:ext uri="{BB962C8B-B14F-4D97-AF65-F5344CB8AC3E}">
        <p14:creationId xmlns:p14="http://schemas.microsoft.com/office/powerpoint/2010/main" val="198633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0703EFFB-2030-E81F-0705-CA0406B895E9}"/>
              </a:ext>
            </a:extLst>
          </p:cNvPr>
          <p:cNvSpPr txBox="1"/>
          <p:nvPr/>
        </p:nvSpPr>
        <p:spPr>
          <a:xfrm>
            <a:off x="717131" y="423167"/>
            <a:ext cx="9733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Part 3  | </a:t>
            </a:r>
            <a:endParaRPr lang="ko-KR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D980E3A-611B-7138-BC59-DA90EE4308A8}"/>
              </a:ext>
            </a:extLst>
          </p:cNvPr>
          <p:cNvSpPr txBox="1"/>
          <p:nvPr/>
        </p:nvSpPr>
        <p:spPr>
          <a:xfrm>
            <a:off x="1550110" y="423167"/>
            <a:ext cx="26869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수상사유 </a:t>
            </a: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1</a:t>
            </a:r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등과 </a:t>
            </a: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3</a:t>
            </a:r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등의 차이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E091356-9FBF-4498-DC6A-BC75301C6139}"/>
              </a:ext>
            </a:extLst>
          </p:cNvPr>
          <p:cNvSpPr/>
          <p:nvPr/>
        </p:nvSpPr>
        <p:spPr>
          <a:xfrm>
            <a:off x="495299" y="1803400"/>
            <a:ext cx="5465375" cy="3898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1E27D58-820A-DA3B-A5DE-8CAAB4D5FF9F}"/>
              </a:ext>
            </a:extLst>
          </p:cNvPr>
          <p:cNvSpPr/>
          <p:nvPr/>
        </p:nvSpPr>
        <p:spPr>
          <a:xfrm>
            <a:off x="6231328" y="1803400"/>
            <a:ext cx="5439972" cy="38989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D72EC8D-93D7-2D4B-95E4-B7663931A0C1}"/>
              </a:ext>
            </a:extLst>
          </p:cNvPr>
          <p:cNvSpPr/>
          <p:nvPr/>
        </p:nvSpPr>
        <p:spPr>
          <a:xfrm>
            <a:off x="808930" y="2117027"/>
            <a:ext cx="4880670" cy="2400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B322969-F703-0445-3359-B8A99E83D504}"/>
              </a:ext>
            </a:extLst>
          </p:cNvPr>
          <p:cNvSpPr/>
          <p:nvPr/>
        </p:nvSpPr>
        <p:spPr>
          <a:xfrm>
            <a:off x="6502400" y="2117027"/>
            <a:ext cx="4880670" cy="2400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D9A144-2D91-6E5B-1C22-DB0539889498}"/>
              </a:ext>
            </a:extLst>
          </p:cNvPr>
          <p:cNvSpPr txBox="1"/>
          <p:nvPr/>
        </p:nvSpPr>
        <p:spPr>
          <a:xfrm>
            <a:off x="2379480" y="4830954"/>
            <a:ext cx="17395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spc="-300" dirty="0">
                <a:solidFill>
                  <a:schemeClr val="bg1"/>
                </a:solidFill>
              </a:rPr>
              <a:t>1</a:t>
            </a:r>
            <a:r>
              <a:rPr lang="ko-KR" altLang="en-US" sz="2400" spc="-300" dirty="0">
                <a:solidFill>
                  <a:schemeClr val="bg1"/>
                </a:solidFill>
              </a:rPr>
              <a:t>등  수상사유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E1C0AA-ACE7-9B58-0951-C986A4DAF731}"/>
              </a:ext>
            </a:extLst>
          </p:cNvPr>
          <p:cNvSpPr txBox="1"/>
          <p:nvPr/>
        </p:nvSpPr>
        <p:spPr>
          <a:xfrm>
            <a:off x="8096758" y="4830953"/>
            <a:ext cx="17091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spc="-300" dirty="0">
                <a:solidFill>
                  <a:schemeClr val="bg1"/>
                </a:solidFill>
              </a:rPr>
              <a:t>3</a:t>
            </a:r>
            <a:r>
              <a:rPr lang="ko-KR" altLang="en-US" sz="2400" spc="-300" dirty="0">
                <a:solidFill>
                  <a:schemeClr val="bg1"/>
                </a:solidFill>
              </a:rPr>
              <a:t>등  수상사유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3C18F7-D061-4671-8CAD-DD0CC4647E94}"/>
              </a:ext>
            </a:extLst>
          </p:cNvPr>
          <p:cNvSpPr txBox="1"/>
          <p:nvPr/>
        </p:nvSpPr>
        <p:spPr>
          <a:xfrm>
            <a:off x="899412" y="2371123"/>
            <a:ext cx="465714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가공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결측치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선수별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처리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선택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RandomForest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평가기준 최적화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외부환경 고려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 상태에 따라 반발계수 하향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7AF549-6CB8-8886-62D9-B56A98522308}"/>
              </a:ext>
            </a:extLst>
          </p:cNvPr>
          <p:cNvSpPr txBox="1"/>
          <p:nvPr/>
        </p:nvSpPr>
        <p:spPr>
          <a:xfrm>
            <a:off x="6635440" y="2270558"/>
            <a:ext cx="465714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가공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결측치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일괄 처리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fillna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(0))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선택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Ridge(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선형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ML)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평가기준 최적화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주전선수에게 더 큰 가중치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화살표: 왼쪽 4">
            <a:extLst>
              <a:ext uri="{FF2B5EF4-FFF2-40B4-BE49-F238E27FC236}">
                <a16:creationId xmlns:a16="http://schemas.microsoft.com/office/drawing/2014/main" id="{BC830F1C-809B-904A-5009-C88E7292BFCF}"/>
              </a:ext>
            </a:extLst>
          </p:cNvPr>
          <p:cNvSpPr/>
          <p:nvPr/>
        </p:nvSpPr>
        <p:spPr>
          <a:xfrm rot="19000374">
            <a:off x="4791632" y="896813"/>
            <a:ext cx="3388178" cy="2433864"/>
          </a:xfrm>
          <a:prstGeom prst="lef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r>
              <a:rPr lang="ko-KR" altLang="en-US" dirty="0"/>
              <a:t>등인 결정적 이유</a:t>
            </a:r>
          </a:p>
        </p:txBody>
      </p:sp>
    </p:spTree>
    <p:extLst>
      <p:ext uri="{BB962C8B-B14F-4D97-AF65-F5344CB8AC3E}">
        <p14:creationId xmlns:p14="http://schemas.microsoft.com/office/powerpoint/2010/main" val="3830406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타원 4">
            <a:extLst>
              <a:ext uri="{FF2B5EF4-FFF2-40B4-BE49-F238E27FC236}">
                <a16:creationId xmlns:a16="http://schemas.microsoft.com/office/drawing/2014/main" id="{4CFCCD01-F538-D39A-F7E4-C80486578C73}"/>
              </a:ext>
            </a:extLst>
          </p:cNvPr>
          <p:cNvSpPr/>
          <p:nvPr/>
        </p:nvSpPr>
        <p:spPr>
          <a:xfrm>
            <a:off x="5626453" y="3067156"/>
            <a:ext cx="3088922" cy="3088922"/>
          </a:xfrm>
          <a:prstGeom prst="ellipse">
            <a:avLst/>
          </a:prstGeom>
          <a:solidFill>
            <a:schemeClr val="accent3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F574C9A-3476-27B4-930B-53E2A4CA2521}"/>
              </a:ext>
            </a:extLst>
          </p:cNvPr>
          <p:cNvSpPr/>
          <p:nvPr/>
        </p:nvSpPr>
        <p:spPr>
          <a:xfrm>
            <a:off x="3476625" y="3067156"/>
            <a:ext cx="3088922" cy="3088922"/>
          </a:xfrm>
          <a:prstGeom prst="ellipse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14C352B3-C821-08FE-6F42-0E24808D9122}"/>
              </a:ext>
            </a:extLst>
          </p:cNvPr>
          <p:cNvSpPr/>
          <p:nvPr/>
        </p:nvSpPr>
        <p:spPr>
          <a:xfrm>
            <a:off x="4551539" y="1282100"/>
            <a:ext cx="3088922" cy="3088922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703EFFB-2030-E81F-0705-CA0406B895E9}"/>
              </a:ext>
            </a:extLst>
          </p:cNvPr>
          <p:cNvSpPr txBox="1"/>
          <p:nvPr/>
        </p:nvSpPr>
        <p:spPr>
          <a:xfrm>
            <a:off x="717131" y="423167"/>
            <a:ext cx="8763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Part 3 | </a:t>
            </a:r>
            <a:endParaRPr lang="ko-KR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D980E3A-611B-7138-BC59-DA90EE4308A8}"/>
              </a:ext>
            </a:extLst>
          </p:cNvPr>
          <p:cNvSpPr txBox="1"/>
          <p:nvPr/>
        </p:nvSpPr>
        <p:spPr>
          <a:xfrm>
            <a:off x="1550110" y="423167"/>
            <a:ext cx="16129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3</a:t>
            </a:r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등의 수상사유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9FFE17-D6E7-67DC-3225-D764325C596D}"/>
              </a:ext>
            </a:extLst>
          </p:cNvPr>
          <p:cNvSpPr txBox="1"/>
          <p:nvPr/>
        </p:nvSpPr>
        <p:spPr>
          <a:xfrm>
            <a:off x="4304093" y="4448867"/>
            <a:ext cx="2579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모델선택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5DD89E-03BB-1087-EAC4-6FFEB14FD975}"/>
              </a:ext>
            </a:extLst>
          </p:cNvPr>
          <p:cNvSpPr txBox="1"/>
          <p:nvPr/>
        </p:nvSpPr>
        <p:spPr>
          <a:xfrm>
            <a:off x="6888206" y="4368544"/>
            <a:ext cx="25794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평가기준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최적화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BCA3FD-1036-5E20-A04A-81CEB2347DB8}"/>
              </a:ext>
            </a:extLst>
          </p:cNvPr>
          <p:cNvSpPr txBox="1"/>
          <p:nvPr/>
        </p:nvSpPr>
        <p:spPr>
          <a:xfrm>
            <a:off x="5275834" y="2519455"/>
            <a:ext cx="2579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데이터가공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B54E79-C0FC-2AF0-C7A8-6DFAAAFAAA9C}"/>
              </a:ext>
            </a:extLst>
          </p:cNvPr>
          <p:cNvSpPr txBox="1"/>
          <p:nvPr/>
        </p:nvSpPr>
        <p:spPr>
          <a:xfrm>
            <a:off x="7841307" y="1497496"/>
            <a:ext cx="29436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200" dirty="0"/>
              <a:t>야구의 누적된 지난 기록 활용</a:t>
            </a:r>
            <a:endParaRPr lang="en-US" altLang="ko-KR" sz="1200" dirty="0"/>
          </a:p>
          <a:p>
            <a:pPr algn="just"/>
            <a:r>
              <a:rPr lang="en-US" altLang="ko-KR" sz="1200" dirty="0"/>
              <a:t>- </a:t>
            </a:r>
            <a:r>
              <a:rPr lang="ko-KR" altLang="en-US" sz="1200" dirty="0"/>
              <a:t>핵심 피처 </a:t>
            </a:r>
            <a:r>
              <a:rPr lang="en-US" altLang="ko-KR" sz="1200" dirty="0"/>
              <a:t>: </a:t>
            </a:r>
            <a:r>
              <a:rPr lang="ko-KR" altLang="en-US" sz="1200" dirty="0"/>
              <a:t>나이</a:t>
            </a:r>
            <a:r>
              <a:rPr lang="en-US" altLang="ko-KR" sz="1200" dirty="0"/>
              <a:t>, LAG 1-3</a:t>
            </a:r>
            <a:r>
              <a:rPr lang="ko-KR" altLang="en-US" sz="1200" dirty="0"/>
              <a:t>년</a:t>
            </a:r>
            <a:r>
              <a:rPr lang="en-US" altLang="ko-KR" sz="1200" dirty="0"/>
              <a:t>, </a:t>
            </a:r>
            <a:r>
              <a:rPr lang="ko-KR" altLang="en-US" sz="1200" dirty="0"/>
              <a:t>커리어 평균</a:t>
            </a:r>
            <a:r>
              <a:rPr lang="en-US" altLang="ko-KR" sz="1200" dirty="0"/>
              <a:t>)</a:t>
            </a:r>
          </a:p>
          <a:p>
            <a:pPr algn="just"/>
            <a:r>
              <a:rPr lang="en-US" altLang="ko-KR" sz="1200" dirty="0"/>
              <a:t>Stats(</a:t>
            </a:r>
            <a:r>
              <a:rPr lang="ko-KR" altLang="en-US" sz="1200" dirty="0"/>
              <a:t>기본 피처</a:t>
            </a:r>
            <a:r>
              <a:rPr lang="en-US" altLang="ko-KR" sz="1200" dirty="0"/>
              <a:t>) : 23</a:t>
            </a:r>
            <a:r>
              <a:rPr lang="ko-KR" altLang="en-US" sz="1200" dirty="0"/>
              <a:t>개</a:t>
            </a:r>
            <a:endParaRPr lang="en-US" altLang="ko-KR" sz="1200" dirty="0"/>
          </a:p>
          <a:p>
            <a:pPr algn="just"/>
            <a:endParaRPr lang="en-US" altLang="ko-KR" sz="1200" dirty="0"/>
          </a:p>
          <a:p>
            <a:pPr algn="just"/>
            <a:r>
              <a:rPr lang="en-US" altLang="ko-KR" sz="1200" dirty="0"/>
              <a:t>- X </a:t>
            </a:r>
            <a:r>
              <a:rPr lang="ko-KR" altLang="en-US" sz="1200" dirty="0"/>
              <a:t>피처</a:t>
            </a:r>
            <a:r>
              <a:rPr lang="en-US" altLang="ko-KR" sz="1200" dirty="0"/>
              <a:t>(</a:t>
            </a:r>
            <a:r>
              <a:rPr lang="ko-KR" altLang="en-US" sz="1200" dirty="0"/>
              <a:t>그룹 </a:t>
            </a:r>
            <a:r>
              <a:rPr lang="en-US" altLang="ko-KR" sz="1200" dirty="0"/>
              <a:t>6</a:t>
            </a:r>
            <a:r>
              <a:rPr lang="ko-KR" altLang="en-US" sz="1200" dirty="0"/>
              <a:t>개</a:t>
            </a:r>
            <a:r>
              <a:rPr lang="en-US" altLang="ko-KR" sz="1200" dirty="0"/>
              <a:t>) : </a:t>
            </a:r>
            <a:r>
              <a:rPr lang="ko-KR" altLang="en-US" sz="1200" dirty="0"/>
              <a:t>현재 시즌기록</a:t>
            </a:r>
            <a:r>
              <a:rPr lang="en-US" altLang="ko-KR" sz="1200" dirty="0"/>
              <a:t>(23</a:t>
            </a:r>
            <a:r>
              <a:rPr lang="ko-KR" altLang="en-US" sz="1200" dirty="0"/>
              <a:t>개</a:t>
            </a:r>
            <a:r>
              <a:rPr lang="en-US" altLang="ko-KR" sz="1200" dirty="0"/>
              <a:t>), </a:t>
            </a:r>
            <a:r>
              <a:rPr lang="ko-KR" altLang="en-US" sz="1200" dirty="0"/>
              <a:t>누적기록</a:t>
            </a:r>
            <a:r>
              <a:rPr lang="en-US" altLang="ko-KR" sz="1200" dirty="0"/>
              <a:t>(23</a:t>
            </a:r>
            <a:r>
              <a:rPr lang="ko-KR" altLang="en-US" sz="1200" dirty="0"/>
              <a:t>개</a:t>
            </a:r>
            <a:r>
              <a:rPr lang="en-US" altLang="ko-KR" sz="1200" dirty="0"/>
              <a:t>), </a:t>
            </a:r>
            <a:r>
              <a:rPr lang="ko-KR" altLang="en-US" sz="1200" dirty="0"/>
              <a:t>직전 </a:t>
            </a:r>
            <a:r>
              <a:rPr lang="en-US" altLang="ko-KR" sz="1200" dirty="0"/>
              <a:t>1</a:t>
            </a:r>
            <a:r>
              <a:rPr lang="ko-KR" altLang="en-US" sz="1200" dirty="0"/>
              <a:t>년 기록</a:t>
            </a:r>
            <a:r>
              <a:rPr lang="en-US" altLang="ko-KR" sz="1200" dirty="0"/>
              <a:t>(23</a:t>
            </a:r>
            <a:r>
              <a:rPr lang="ko-KR" altLang="en-US" sz="1200" dirty="0"/>
              <a:t>개</a:t>
            </a:r>
            <a:r>
              <a:rPr lang="en-US" altLang="ko-KR" sz="1200" dirty="0"/>
              <a:t>), </a:t>
            </a:r>
            <a:r>
              <a:rPr lang="ko-KR" altLang="en-US" sz="1200" dirty="0"/>
              <a:t>직전 </a:t>
            </a:r>
            <a:r>
              <a:rPr lang="en-US" altLang="ko-KR" sz="1200" dirty="0"/>
              <a:t>2</a:t>
            </a:r>
            <a:r>
              <a:rPr lang="ko-KR" altLang="en-US" sz="1200" dirty="0"/>
              <a:t>년 기록</a:t>
            </a:r>
            <a:r>
              <a:rPr lang="en-US" altLang="ko-KR" sz="1200" dirty="0"/>
              <a:t>(23</a:t>
            </a:r>
            <a:r>
              <a:rPr lang="ko-KR" altLang="en-US" sz="1200" dirty="0"/>
              <a:t>개</a:t>
            </a:r>
            <a:r>
              <a:rPr lang="en-US" altLang="ko-KR" sz="1200" dirty="0"/>
              <a:t>), </a:t>
            </a:r>
            <a:r>
              <a:rPr lang="ko-KR" altLang="en-US" sz="1200" dirty="0"/>
              <a:t>포지션 더미 변수</a:t>
            </a:r>
            <a:r>
              <a:rPr lang="en-US" altLang="ko-KR" sz="1200" dirty="0"/>
              <a:t>(8</a:t>
            </a:r>
            <a:r>
              <a:rPr lang="ko-KR" altLang="en-US" sz="1200" dirty="0"/>
              <a:t>개</a:t>
            </a:r>
            <a:r>
              <a:rPr lang="en-US" altLang="ko-KR" sz="1200" dirty="0"/>
              <a:t>), </a:t>
            </a:r>
            <a:r>
              <a:rPr lang="ko-KR" altLang="en-US" sz="1200" dirty="0"/>
              <a:t>나이</a:t>
            </a:r>
            <a:r>
              <a:rPr lang="en-US" altLang="ko-KR" sz="1200" dirty="0"/>
              <a:t>(1</a:t>
            </a:r>
            <a:r>
              <a:rPr lang="ko-KR" altLang="en-US" sz="1200" dirty="0"/>
              <a:t>개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53BED3-3DA5-1631-D2C1-0E1F7E21A246}"/>
              </a:ext>
            </a:extLst>
          </p:cNvPr>
          <p:cNvSpPr txBox="1"/>
          <p:nvPr/>
        </p:nvSpPr>
        <p:spPr>
          <a:xfrm>
            <a:off x="8930173" y="5027164"/>
            <a:ext cx="23535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200" dirty="0"/>
              <a:t>주전선수에게 더 큰 가중치 부여</a:t>
            </a:r>
            <a:r>
              <a:rPr lang="en-US" altLang="ko-KR" sz="1200" dirty="0"/>
              <a:t>(</a:t>
            </a:r>
            <a:r>
              <a:rPr lang="en-US" altLang="ko-KR" sz="1200" dirty="0" err="1"/>
              <a:t>sample_weight</a:t>
            </a:r>
            <a:r>
              <a:rPr lang="en-US" altLang="ko-KR" sz="1200" dirty="0"/>
              <a:t>=＇</a:t>
            </a:r>
            <a:r>
              <a:rPr lang="ko-KR" altLang="en-US" sz="1200" dirty="0"/>
              <a:t>타수</a:t>
            </a:r>
            <a:r>
              <a:rPr lang="en-US" altLang="ko-KR" sz="1200" dirty="0"/>
              <a:t>’)</a:t>
            </a:r>
          </a:p>
          <a:p>
            <a:pPr algn="just"/>
            <a:endParaRPr lang="en-US" altLang="ko-KR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altLang="ko-KR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ko-KR" altLang="en-US" sz="1200" dirty="0" err="1"/>
              <a:t>가중평균제곱근오차</a:t>
            </a:r>
            <a:r>
              <a:rPr lang="en-US" altLang="ko-KR" sz="1200" dirty="0"/>
              <a:t>(WRMS)</a:t>
            </a:r>
            <a:endParaRPr lang="ko-KR" alt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D2C2C8-FEAE-7410-D3AB-EC94098558FC}"/>
              </a:ext>
            </a:extLst>
          </p:cNvPr>
          <p:cNvSpPr txBox="1"/>
          <p:nvPr/>
        </p:nvSpPr>
        <p:spPr>
          <a:xfrm>
            <a:off x="1522080" y="5076430"/>
            <a:ext cx="2353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200" dirty="0"/>
              <a:t>Ridge </a:t>
            </a:r>
            <a:r>
              <a:rPr lang="ko-KR" altLang="en-US" sz="1200" dirty="0"/>
              <a:t>선형 </a:t>
            </a:r>
            <a:r>
              <a:rPr lang="en-US" altLang="ko-KR" sz="1200" dirty="0"/>
              <a:t>ML</a:t>
            </a:r>
            <a:r>
              <a:rPr lang="ko-KR" altLang="en-US" sz="1200" dirty="0"/>
              <a:t>사용으로</a:t>
            </a:r>
            <a:endParaRPr lang="en-US" altLang="ko-KR" sz="1200" dirty="0"/>
          </a:p>
          <a:p>
            <a:pPr algn="just"/>
            <a:r>
              <a:rPr lang="ko-KR" altLang="en-US" sz="1200" dirty="0" err="1"/>
              <a:t>규제항</a:t>
            </a:r>
            <a:r>
              <a:rPr lang="ko-KR" altLang="en-US" sz="1200" dirty="0"/>
              <a:t> 추가</a:t>
            </a:r>
            <a:r>
              <a:rPr lang="en-US" altLang="ko-KR" sz="1200" dirty="0"/>
              <a:t>(</a:t>
            </a:r>
            <a:r>
              <a:rPr lang="ko-KR" altLang="en-US" sz="1200" dirty="0"/>
              <a:t>과적합방지</a:t>
            </a:r>
            <a:r>
              <a:rPr lang="en-US" altLang="ko-KR" sz="1200" dirty="0"/>
              <a:t>)</a:t>
            </a:r>
          </a:p>
        </p:txBody>
      </p:sp>
      <p:grpSp>
        <p:nvGrpSpPr>
          <p:cNvPr id="13" name="모델선택">
            <a:extLst>
              <a:ext uri="{FF2B5EF4-FFF2-40B4-BE49-F238E27FC236}">
                <a16:creationId xmlns:a16="http://schemas.microsoft.com/office/drawing/2014/main" id="{CB6E16E7-C84B-9BA0-B943-2E67A2C064D3}"/>
              </a:ext>
            </a:extLst>
          </p:cNvPr>
          <p:cNvGrpSpPr/>
          <p:nvPr/>
        </p:nvGrpSpPr>
        <p:grpSpPr>
          <a:xfrm>
            <a:off x="570757" y="262175"/>
            <a:ext cx="11828061" cy="6483964"/>
            <a:chOff x="100971" y="187018"/>
            <a:chExt cx="11828061" cy="6483964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1E12C80D-3A9D-A9CE-6EB0-25BBB43428CD}"/>
                </a:ext>
              </a:extLst>
            </p:cNvPr>
            <p:cNvSpPr/>
            <p:nvPr/>
          </p:nvSpPr>
          <p:spPr>
            <a:xfrm>
              <a:off x="100971" y="187018"/>
              <a:ext cx="11828061" cy="6483964"/>
            </a:xfrm>
            <a:prstGeom prst="roundRect">
              <a:avLst>
                <a:gd name="adj" fmla="val 17316"/>
              </a:avLst>
            </a:prstGeom>
            <a:solidFill>
              <a:srgbClr val="FFFFFF"/>
            </a:solidFill>
            <a:ln>
              <a:noFill/>
            </a:ln>
            <a:effectLst>
              <a:outerShdw blurRad="254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BF187341-8C9E-A137-FE55-702A42FC5C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1875" y="893748"/>
              <a:ext cx="9926252" cy="2067213"/>
            </a:xfrm>
            <a:prstGeom prst="rect">
              <a:avLst/>
            </a:prstGeom>
          </p:spPr>
        </p:pic>
        <p:pic>
          <p:nvPicPr>
            <p:cNvPr id="43" name="그림 42" descr="텍스트, 스크린샷, 폰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C8309AA-4E23-DF76-36C7-0C3457887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23824" y="3505772"/>
              <a:ext cx="9952250" cy="2906557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68B0650-6549-DA2A-08B8-B9C322CB8B07}"/>
                </a:ext>
              </a:extLst>
            </p:cNvPr>
            <p:cNvSpPr txBox="1"/>
            <p:nvPr/>
          </p:nvSpPr>
          <p:spPr>
            <a:xfrm>
              <a:off x="1104950" y="474385"/>
              <a:ext cx="315618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 dirty="0"/>
                <a:t>후보 모델 정의 </a:t>
              </a:r>
              <a:r>
                <a:rPr lang="en-US" altLang="ko-KR" sz="2000" b="1" dirty="0"/>
                <a:t>(Dictionary)</a:t>
              </a:r>
              <a:endParaRPr lang="ko-KR" altLang="en-US" sz="2000" b="1" dirty="0">
                <a:latin typeface="+mn-ea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D1511AD-9A64-36B2-DA39-08729CD72D5D}"/>
                </a:ext>
              </a:extLst>
            </p:cNvPr>
            <p:cNvSpPr txBox="1"/>
            <p:nvPr/>
          </p:nvSpPr>
          <p:spPr>
            <a:xfrm>
              <a:off x="1051875" y="3096617"/>
              <a:ext cx="418845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 dirty="0"/>
                <a:t>시계열 교차 검증 및 </a:t>
              </a:r>
              <a:r>
                <a:rPr lang="en-US" altLang="ko-KR" sz="2000" b="1" dirty="0"/>
                <a:t>Ridge </a:t>
              </a:r>
              <a:r>
                <a:rPr lang="ko-KR" altLang="en-US" sz="2000" b="1" dirty="0"/>
                <a:t>선택 논리</a:t>
              </a:r>
              <a:endParaRPr lang="ko-KR" altLang="en-US" sz="2000" b="1" dirty="0">
                <a:latin typeface="+mn-ea"/>
              </a:endParaRPr>
            </a:p>
          </p:txBody>
        </p:sp>
      </p:grpSp>
      <p:grpSp>
        <p:nvGrpSpPr>
          <p:cNvPr id="12" name="평가기준최적화">
            <a:extLst>
              <a:ext uri="{FF2B5EF4-FFF2-40B4-BE49-F238E27FC236}">
                <a16:creationId xmlns:a16="http://schemas.microsoft.com/office/drawing/2014/main" id="{B92D1206-9415-1213-5529-04C76B4F318B}"/>
              </a:ext>
            </a:extLst>
          </p:cNvPr>
          <p:cNvGrpSpPr/>
          <p:nvPr/>
        </p:nvGrpSpPr>
        <p:grpSpPr>
          <a:xfrm>
            <a:off x="245733" y="66302"/>
            <a:ext cx="11990059" cy="6611053"/>
            <a:chOff x="100970" y="101552"/>
            <a:chExt cx="11990059" cy="6611053"/>
          </a:xfrm>
        </p:grpSpPr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4F3C8A6F-13D2-5D32-A297-711D05BAF2EF}"/>
                </a:ext>
              </a:extLst>
            </p:cNvPr>
            <p:cNvSpPr/>
            <p:nvPr/>
          </p:nvSpPr>
          <p:spPr>
            <a:xfrm>
              <a:off x="100970" y="101552"/>
              <a:ext cx="11990059" cy="6611053"/>
            </a:xfrm>
            <a:prstGeom prst="roundRect">
              <a:avLst>
                <a:gd name="adj" fmla="val 17316"/>
              </a:avLst>
            </a:prstGeom>
            <a:solidFill>
              <a:srgbClr val="FFFFFF"/>
            </a:solidFill>
            <a:ln>
              <a:noFill/>
            </a:ln>
            <a:effectLst>
              <a:outerShdw blurRad="254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8008D8EF-1FB3-4714-A893-C7441A61C0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2919" y="3084251"/>
              <a:ext cx="11216642" cy="639608"/>
            </a:xfrm>
            <a:prstGeom prst="rect">
              <a:avLst/>
            </a:prstGeom>
          </p:spPr>
        </p:pic>
        <p:pic>
          <p:nvPicPr>
            <p:cNvPr id="70" name="그림 69">
              <a:extLst>
                <a:ext uri="{FF2B5EF4-FFF2-40B4-BE49-F238E27FC236}">
                  <a16:creationId xmlns:a16="http://schemas.microsoft.com/office/drawing/2014/main" id="{E0628ED0-B4A5-5541-0EF2-5FDBA35212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2919" y="4605796"/>
              <a:ext cx="11216642" cy="1205039"/>
            </a:xfrm>
            <a:prstGeom prst="rect">
              <a:avLst/>
            </a:prstGeom>
          </p:spPr>
        </p:pic>
        <p:pic>
          <p:nvPicPr>
            <p:cNvPr id="72" name="그림 71">
              <a:extLst>
                <a:ext uri="{FF2B5EF4-FFF2-40B4-BE49-F238E27FC236}">
                  <a16:creationId xmlns:a16="http://schemas.microsoft.com/office/drawing/2014/main" id="{364CB03F-D587-4DC1-0324-0F4D1F3A476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2919" y="1197492"/>
              <a:ext cx="11216641" cy="1018284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53A14DB2-33E0-2F9B-A4FE-F9CC2F4A2D13}"/>
                </a:ext>
              </a:extLst>
            </p:cNvPr>
            <p:cNvSpPr txBox="1"/>
            <p:nvPr/>
          </p:nvSpPr>
          <p:spPr>
            <a:xfrm>
              <a:off x="747508" y="820213"/>
              <a:ext cx="6172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ko-KR" altLang="en-US" b="1" dirty="0"/>
                <a:t>가중치</a:t>
              </a:r>
              <a:r>
                <a:rPr lang="en-US" altLang="ko-KR" b="1" dirty="0"/>
                <a:t>(W) </a:t>
              </a:r>
              <a:r>
                <a:rPr lang="ko-KR" altLang="en-US" b="1" dirty="0"/>
                <a:t>정의 및 학습 최적화 코드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DB0B8F5E-E9A2-EBB4-91B5-5D1179232FBB}"/>
                </a:ext>
              </a:extLst>
            </p:cNvPr>
            <p:cNvSpPr txBox="1"/>
            <p:nvPr/>
          </p:nvSpPr>
          <p:spPr>
            <a:xfrm>
              <a:off x="747508" y="4215652"/>
              <a:ext cx="6172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ko-KR" altLang="en-US" b="1" dirty="0"/>
                <a:t>최종 평가 결과 출력 코드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5781550D-D776-5FA0-B0ED-356D98A52568}"/>
                </a:ext>
              </a:extLst>
            </p:cNvPr>
            <p:cNvSpPr txBox="1"/>
            <p:nvPr/>
          </p:nvSpPr>
          <p:spPr>
            <a:xfrm>
              <a:off x="681327" y="2693015"/>
              <a:ext cx="6172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ko-KR" altLang="en-US" b="1" dirty="0"/>
                <a:t>최종 평가 기준 </a:t>
              </a:r>
              <a:r>
                <a:rPr lang="en-US" altLang="ko-KR" b="1" dirty="0"/>
                <a:t>(WRMSE) </a:t>
              </a:r>
              <a:r>
                <a:rPr lang="ko-KR" altLang="en-US" b="1" dirty="0"/>
                <a:t>계산코드</a:t>
              </a:r>
            </a:p>
          </p:txBody>
        </p:sp>
      </p:grpSp>
      <p:grpSp>
        <p:nvGrpSpPr>
          <p:cNvPr id="11" name="데이터가공">
            <a:extLst>
              <a:ext uri="{FF2B5EF4-FFF2-40B4-BE49-F238E27FC236}">
                <a16:creationId xmlns:a16="http://schemas.microsoft.com/office/drawing/2014/main" id="{0642E28A-53E4-74E4-DD6A-0B79806F0D14}"/>
              </a:ext>
            </a:extLst>
          </p:cNvPr>
          <p:cNvGrpSpPr/>
          <p:nvPr/>
        </p:nvGrpSpPr>
        <p:grpSpPr>
          <a:xfrm>
            <a:off x="407731" y="82837"/>
            <a:ext cx="11828061" cy="6483964"/>
            <a:chOff x="181969" y="354033"/>
            <a:chExt cx="11828061" cy="6483964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38E657D1-DAAF-1A86-DDF4-5A3A4CC1422E}"/>
                </a:ext>
              </a:extLst>
            </p:cNvPr>
            <p:cNvSpPr/>
            <p:nvPr/>
          </p:nvSpPr>
          <p:spPr>
            <a:xfrm>
              <a:off x="181969" y="354033"/>
              <a:ext cx="11828061" cy="6483964"/>
            </a:xfrm>
            <a:prstGeom prst="roundRect">
              <a:avLst>
                <a:gd name="adj" fmla="val 17316"/>
              </a:avLst>
            </a:prstGeom>
            <a:solidFill>
              <a:srgbClr val="FFFFFF"/>
            </a:solidFill>
            <a:ln>
              <a:noFill/>
            </a:ln>
            <a:effectLst>
              <a:outerShdw blurRad="254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9148E6FF-B593-56BB-8CCE-000E9660A0D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15579" b="8926"/>
            <a:stretch>
              <a:fillRect/>
            </a:stretch>
          </p:blipFill>
          <p:spPr>
            <a:xfrm>
              <a:off x="630265" y="1091253"/>
              <a:ext cx="10652227" cy="1159125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7E1D1DFF-FB39-5D74-4CAE-03CA771C34B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14809" b="7197"/>
            <a:stretch>
              <a:fillRect/>
            </a:stretch>
          </p:blipFill>
          <p:spPr>
            <a:xfrm>
              <a:off x="630266" y="2900140"/>
              <a:ext cx="10652228" cy="1538747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D20B1C76-A4BB-6377-CD52-C54D34EBB1F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t="5705" b="8002"/>
            <a:stretch>
              <a:fillRect/>
            </a:stretch>
          </p:blipFill>
          <p:spPr>
            <a:xfrm>
              <a:off x="630266" y="5118054"/>
              <a:ext cx="10652227" cy="1205039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0C0A27-771A-B669-40A1-28CBAA2B36FE}"/>
                </a:ext>
              </a:extLst>
            </p:cNvPr>
            <p:cNvSpPr txBox="1"/>
            <p:nvPr/>
          </p:nvSpPr>
          <p:spPr>
            <a:xfrm>
              <a:off x="711318" y="683250"/>
              <a:ext cx="6172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ko-KR" altLang="en-US" b="1" dirty="0"/>
                <a:t>기본 통계 지표 리스트 정의 </a:t>
              </a:r>
              <a:r>
                <a:rPr lang="en-US" altLang="ko-KR" b="1" dirty="0"/>
                <a:t>(stats)</a:t>
              </a:r>
              <a:endParaRPr lang="ko-KR" altLang="en-US" b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C84E0ED-1757-7EBA-F864-C052A4B3653E}"/>
                </a:ext>
              </a:extLst>
            </p:cNvPr>
            <p:cNvSpPr txBox="1"/>
            <p:nvPr/>
          </p:nvSpPr>
          <p:spPr>
            <a:xfrm>
              <a:off x="711318" y="2465366"/>
              <a:ext cx="6172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ko-KR" altLang="en-US" b="1" dirty="0"/>
                <a:t>시계열 파생 변수 리스트 정의 </a:t>
              </a:r>
              <a:r>
                <a:rPr lang="en-US" altLang="ko-KR" b="1" dirty="0"/>
                <a:t>(</a:t>
              </a:r>
              <a:r>
                <a:rPr lang="en-US" altLang="ko-KR" b="1" dirty="0" err="1"/>
                <a:t>stats_cum</a:t>
              </a:r>
              <a:r>
                <a:rPr lang="en-US" altLang="ko-KR" b="1" dirty="0"/>
                <a:t>, </a:t>
              </a:r>
              <a:r>
                <a:rPr lang="en-US" altLang="ko-KR" b="1" dirty="0" err="1"/>
                <a:t>stats_lag</a:t>
              </a:r>
              <a:r>
                <a:rPr lang="en-US" altLang="ko-KR" b="1" dirty="0"/>
                <a:t>)</a:t>
              </a:r>
              <a:endParaRPr lang="ko-KR" altLang="en-US" b="1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62B7B85-11D7-978E-0161-D79D70E39445}"/>
                </a:ext>
              </a:extLst>
            </p:cNvPr>
            <p:cNvSpPr txBox="1"/>
            <p:nvPr/>
          </p:nvSpPr>
          <p:spPr>
            <a:xfrm>
              <a:off x="711318" y="4675187"/>
              <a:ext cx="81378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ko-KR" altLang="en-US" b="1" dirty="0"/>
                <a:t>포지션 더미 변수 리스트 정의 </a:t>
              </a:r>
              <a:r>
                <a:rPr lang="en-US" altLang="ko-KR" b="1" dirty="0"/>
                <a:t>(</a:t>
              </a:r>
              <a:r>
                <a:rPr lang="en-US" altLang="ko-KR" b="1" dirty="0" err="1"/>
                <a:t>stats_position</a:t>
              </a:r>
              <a:r>
                <a:rPr lang="en-US" altLang="ko-KR" b="1" dirty="0"/>
                <a:t>) </a:t>
              </a:r>
              <a:r>
                <a:rPr lang="ko-KR" altLang="en-US" b="1" dirty="0"/>
                <a:t>및 </a:t>
              </a:r>
              <a:r>
                <a:rPr lang="en-US" altLang="ko-KR" b="1" dirty="0"/>
                <a:t>x</a:t>
              </a:r>
              <a:r>
                <a:rPr lang="ko-KR" altLang="en-US" b="1" dirty="0"/>
                <a:t>피처 리스트 결합 </a:t>
              </a:r>
              <a:r>
                <a:rPr lang="en-US" altLang="ko-KR" b="1" dirty="0"/>
                <a:t>(</a:t>
              </a:r>
              <a:r>
                <a:rPr lang="en-US" altLang="ko-KR" b="1" dirty="0" err="1"/>
                <a:t>X_cols</a:t>
              </a:r>
              <a:r>
                <a:rPr lang="en-US" altLang="ko-KR" b="1" dirty="0"/>
                <a:t>)</a:t>
              </a:r>
              <a:endParaRPr lang="ko-KR" alt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993195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8C59F-C50D-D062-91F7-519F5272A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3194906C-8DF6-E8AE-152E-5EFE167482C5}"/>
              </a:ext>
            </a:extLst>
          </p:cNvPr>
          <p:cNvSpPr txBox="1"/>
          <p:nvPr/>
        </p:nvSpPr>
        <p:spPr>
          <a:xfrm>
            <a:off x="717131" y="423167"/>
            <a:ext cx="9228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Part 3  | </a:t>
            </a:r>
            <a:endParaRPr lang="ko-KR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48D63DC-4B2F-E7DE-1E67-1256CE40DFCC}"/>
              </a:ext>
            </a:extLst>
          </p:cNvPr>
          <p:cNvSpPr txBox="1"/>
          <p:nvPr/>
        </p:nvSpPr>
        <p:spPr>
          <a:xfrm>
            <a:off x="1550110" y="423167"/>
            <a:ext cx="12570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데이터 가공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95C0A0F-6FF1-5A60-DD54-F8D737E48565}"/>
              </a:ext>
            </a:extLst>
          </p:cNvPr>
          <p:cNvSpPr/>
          <p:nvPr/>
        </p:nvSpPr>
        <p:spPr>
          <a:xfrm>
            <a:off x="869611" y="2235082"/>
            <a:ext cx="4001751" cy="39500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DD7F24-BFFA-8C99-EF30-C82C22F0A0C4}"/>
              </a:ext>
            </a:extLst>
          </p:cNvPr>
          <p:cNvSpPr/>
          <p:nvPr/>
        </p:nvSpPr>
        <p:spPr>
          <a:xfrm>
            <a:off x="869610" y="1206368"/>
            <a:ext cx="4001751" cy="719302"/>
          </a:xfrm>
          <a:prstGeom prst="rect">
            <a:avLst/>
          </a:prstGeom>
          <a:solidFill>
            <a:srgbClr val="A3D4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C3EFC3-2BF6-C56D-CD45-A583048D1F2A}"/>
              </a:ext>
            </a:extLst>
          </p:cNvPr>
          <p:cNvSpPr txBox="1"/>
          <p:nvPr/>
        </p:nvSpPr>
        <p:spPr>
          <a:xfrm>
            <a:off x="2789158" y="14275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5837AAB-08AC-D4DD-28F9-0001386FF431}"/>
              </a:ext>
            </a:extLst>
          </p:cNvPr>
          <p:cNvSpPr/>
          <p:nvPr/>
        </p:nvSpPr>
        <p:spPr>
          <a:xfrm>
            <a:off x="5169919" y="1076325"/>
            <a:ext cx="6152470" cy="510883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0" name="데이터가공">
            <a:extLst>
              <a:ext uri="{FF2B5EF4-FFF2-40B4-BE49-F238E27FC236}">
                <a16:creationId xmlns:a16="http://schemas.microsoft.com/office/drawing/2014/main" id="{588D2CD3-5EFF-6FA4-6E4C-5F26A7BB3293}"/>
              </a:ext>
            </a:extLst>
          </p:cNvPr>
          <p:cNvGrpSpPr/>
          <p:nvPr/>
        </p:nvGrpSpPr>
        <p:grpSpPr>
          <a:xfrm>
            <a:off x="5374244" y="1289020"/>
            <a:ext cx="5256988" cy="3998833"/>
            <a:chOff x="711316" y="538146"/>
            <a:chExt cx="10036045" cy="4879624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2C6449D-1273-2E26-68A3-74DFC383843B}"/>
                </a:ext>
              </a:extLst>
            </p:cNvPr>
            <p:cNvSpPr txBox="1"/>
            <p:nvPr/>
          </p:nvSpPr>
          <p:spPr>
            <a:xfrm>
              <a:off x="711316" y="538146"/>
              <a:ext cx="6172200" cy="3380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ko-KR" sz="1200" dirty="0"/>
                <a:t>(1) </a:t>
              </a:r>
              <a:r>
                <a:rPr lang="ko-KR" altLang="en-US" sz="1200" dirty="0"/>
                <a:t>누적 기록과 </a:t>
              </a:r>
              <a:r>
                <a:rPr lang="en-US" altLang="ko-KR" sz="1200" dirty="0"/>
                <a:t>Lag </a:t>
              </a:r>
              <a:r>
                <a:rPr lang="ko-KR" altLang="en-US" sz="1200" dirty="0"/>
                <a:t>기록 활용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1F2E88B-A4EC-C485-D115-BC11ADA7FE14}"/>
                </a:ext>
              </a:extLst>
            </p:cNvPr>
            <p:cNvSpPr txBox="1"/>
            <p:nvPr/>
          </p:nvSpPr>
          <p:spPr>
            <a:xfrm>
              <a:off x="794444" y="2583233"/>
              <a:ext cx="7905964" cy="3380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ko-KR" sz="1200" dirty="0"/>
                <a:t>(2) </a:t>
              </a:r>
              <a:r>
                <a:rPr lang="ko-KR" altLang="en-US" sz="1200" dirty="0"/>
                <a:t>시즌</a:t>
              </a:r>
              <a:r>
                <a:rPr lang="en-US" altLang="ko-KR" sz="1200" dirty="0"/>
                <a:t>-lag</a:t>
              </a:r>
              <a:r>
                <a:rPr lang="ko-KR" altLang="en-US" sz="1200" dirty="0"/>
                <a:t>의 기록을 </a:t>
              </a:r>
              <a:r>
                <a:rPr lang="en-US" altLang="ko-KR" sz="1200" dirty="0"/>
                <a:t>Feature</a:t>
              </a:r>
              <a:r>
                <a:rPr lang="ko-KR" altLang="en-US" sz="1200" dirty="0"/>
                <a:t>로 사용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6D2D338-6085-7505-B0B6-17AA1EB86368}"/>
                </a:ext>
              </a:extLst>
            </p:cNvPr>
            <p:cNvSpPr txBox="1"/>
            <p:nvPr/>
          </p:nvSpPr>
          <p:spPr>
            <a:xfrm>
              <a:off x="794443" y="5079759"/>
              <a:ext cx="9952918" cy="3380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ko-KR" sz="1200" dirty="0"/>
                <a:t>(3) </a:t>
              </a:r>
              <a:r>
                <a:rPr lang="ko-KR" altLang="en-US" sz="1200" dirty="0" err="1"/>
                <a:t>결측치</a:t>
              </a:r>
              <a:r>
                <a:rPr lang="en-US" altLang="ko-KR" sz="1200" dirty="0"/>
                <a:t>(NA)</a:t>
              </a:r>
              <a:r>
                <a:rPr lang="ko-KR" altLang="en-US" sz="1200" dirty="0"/>
                <a:t>의 정보화</a:t>
              </a:r>
              <a:r>
                <a:rPr lang="en-US" altLang="ko-KR" sz="1200" dirty="0"/>
                <a:t>(-1 </a:t>
              </a:r>
              <a:r>
                <a:rPr lang="ko-KR" altLang="en-US" sz="1200" dirty="0"/>
                <a:t>대체</a:t>
              </a:r>
              <a:r>
                <a:rPr lang="en-US" altLang="ko-KR" sz="1200" dirty="0"/>
                <a:t>)</a:t>
              </a:r>
              <a:endParaRPr lang="ko-KR" altLang="en-US" sz="1200" dirty="0"/>
            </a:p>
          </p:txBody>
        </p:sp>
      </p:grpSp>
      <p:pic>
        <p:nvPicPr>
          <p:cNvPr id="24" name="그림 2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96862B7-D213-A7FC-A316-AF18D162D5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557" b="19122"/>
          <a:stretch>
            <a:fillRect/>
          </a:stretch>
        </p:blipFill>
        <p:spPr>
          <a:xfrm>
            <a:off x="5325626" y="1566019"/>
            <a:ext cx="5579751" cy="123913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DDCA166-E28F-4EC4-AED8-8DEC5A8648EB}"/>
              </a:ext>
            </a:extLst>
          </p:cNvPr>
          <p:cNvSpPr txBox="1"/>
          <p:nvPr/>
        </p:nvSpPr>
        <p:spPr>
          <a:xfrm>
            <a:off x="1056244" y="2567460"/>
            <a:ext cx="367038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(1) </a:t>
            </a:r>
            <a:r>
              <a:rPr lang="ko-KR" altLang="en-US" sz="1200" dirty="0"/>
              <a:t>누적 기록과 </a:t>
            </a:r>
            <a:r>
              <a:rPr lang="en-US" altLang="ko-KR" sz="1200" dirty="0"/>
              <a:t>Lag </a:t>
            </a:r>
            <a:r>
              <a:rPr lang="ko-KR" altLang="en-US" sz="1200" dirty="0"/>
              <a:t>기록 활용</a:t>
            </a:r>
          </a:p>
          <a:p>
            <a:pPr>
              <a:buNone/>
            </a:pPr>
            <a:endParaRPr lang="en-US" altLang="ko-KR" sz="1200" dirty="0"/>
          </a:p>
          <a:p>
            <a:pPr>
              <a:buNone/>
            </a:pPr>
            <a:r>
              <a:rPr lang="ko-KR" altLang="en-US" sz="1200" dirty="0"/>
              <a:t>시즌 이전까지의 기록 평균</a:t>
            </a:r>
            <a:r>
              <a:rPr lang="en-US" altLang="ko-KR" sz="1200" dirty="0"/>
              <a:t>(mean)</a:t>
            </a:r>
            <a:r>
              <a:rPr lang="ko-KR" altLang="en-US" sz="1200" dirty="0"/>
              <a:t>을 누적 기록으로 사용</a:t>
            </a:r>
            <a:endParaRPr lang="en-US" altLang="ko-KR" sz="1200" dirty="0"/>
          </a:p>
          <a:p>
            <a:pPr>
              <a:buNone/>
            </a:pPr>
            <a:endParaRPr lang="en-US" altLang="ko-KR" sz="1200" dirty="0"/>
          </a:p>
          <a:p>
            <a:r>
              <a:rPr lang="en-US" altLang="ko-KR" sz="1200" dirty="0"/>
              <a:t>(2) </a:t>
            </a:r>
            <a:r>
              <a:rPr lang="ko-KR" altLang="en-US" sz="1200" dirty="0"/>
              <a:t>시즌</a:t>
            </a:r>
            <a:r>
              <a:rPr lang="en-US" altLang="ko-KR" sz="1200" dirty="0"/>
              <a:t>-lag</a:t>
            </a:r>
            <a:r>
              <a:rPr lang="ko-KR" altLang="en-US" sz="1200" dirty="0"/>
              <a:t>의 기록을 </a:t>
            </a:r>
            <a:r>
              <a:rPr lang="en-US" altLang="ko-KR" sz="1200" dirty="0"/>
              <a:t>Feature</a:t>
            </a:r>
            <a:r>
              <a:rPr lang="ko-KR" altLang="en-US" sz="1200" dirty="0"/>
              <a:t>로 사용</a:t>
            </a:r>
            <a:endParaRPr lang="en-US" altLang="ko-KR" sz="1200" dirty="0"/>
          </a:p>
          <a:p>
            <a:r>
              <a:rPr lang="ko-KR" altLang="en-US" sz="1200" dirty="0"/>
              <a:t>시즌</a:t>
            </a:r>
            <a:r>
              <a:rPr lang="en-US" altLang="ko-KR" sz="1200" dirty="0"/>
              <a:t>-lag</a:t>
            </a:r>
            <a:r>
              <a:rPr lang="ko-KR" altLang="en-US" sz="1200" dirty="0"/>
              <a:t>의 기록을 </a:t>
            </a:r>
            <a:r>
              <a:rPr lang="en-US" altLang="ko-KR" sz="1200" dirty="0"/>
              <a:t>Feature</a:t>
            </a:r>
            <a:r>
              <a:rPr lang="ko-KR" altLang="en-US" sz="1200" dirty="0"/>
              <a:t>로 사용했다</a:t>
            </a:r>
            <a:r>
              <a:rPr lang="en-US" altLang="ko-KR" sz="1200" dirty="0"/>
              <a:t>. </a:t>
            </a:r>
            <a:r>
              <a:rPr lang="ko-KR" altLang="en-US" sz="1200" dirty="0"/>
              <a:t>선수의 장기적인 기량 추세와 최근의 단기적 폼을 반영했다</a:t>
            </a:r>
            <a:r>
              <a:rPr lang="en-US" altLang="ko-KR" sz="1200" dirty="0"/>
              <a:t>. </a:t>
            </a:r>
            <a:r>
              <a:rPr lang="ko-KR" altLang="en-US" sz="1200" dirty="0"/>
              <a:t>선수 개인의 평균 누적 기록과 ‘직전 </a:t>
            </a:r>
            <a:r>
              <a:rPr lang="en-US" altLang="ko-KR" sz="1200" dirty="0"/>
              <a:t>3</a:t>
            </a:r>
            <a:r>
              <a:rPr lang="ko-KR" altLang="en-US" sz="1200" dirty="0"/>
              <a:t>년의 기록</a:t>
            </a:r>
            <a:r>
              <a:rPr lang="en-US" altLang="ko-KR" sz="1200" dirty="0"/>
              <a:t>(LAG1, LAG2, LAG3)’</a:t>
            </a:r>
            <a:r>
              <a:rPr lang="ko-KR" altLang="en-US" sz="1200" dirty="0"/>
              <a:t>을 변수로 사용해 선수의 커리어를 바탕으로 예측한 것이다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(3) </a:t>
            </a:r>
            <a:r>
              <a:rPr lang="ko-KR" altLang="en-US" sz="1200" dirty="0" err="1"/>
              <a:t>결측치</a:t>
            </a:r>
            <a:r>
              <a:rPr lang="en-US" altLang="ko-KR" sz="1200" dirty="0"/>
              <a:t>(NA)</a:t>
            </a:r>
            <a:r>
              <a:rPr lang="ko-KR" altLang="en-US" sz="1200" dirty="0"/>
              <a:t>의 정보화</a:t>
            </a:r>
            <a:r>
              <a:rPr lang="en-US" altLang="ko-KR" sz="1200" dirty="0"/>
              <a:t>(-1 </a:t>
            </a:r>
            <a:r>
              <a:rPr lang="ko-KR" altLang="en-US" sz="1200" dirty="0"/>
              <a:t>대체</a:t>
            </a:r>
            <a:r>
              <a:rPr lang="en-US" altLang="ko-KR" sz="1200" dirty="0"/>
              <a:t>)</a:t>
            </a:r>
          </a:p>
          <a:p>
            <a:r>
              <a:rPr lang="ko-KR" altLang="en-US" sz="1200" dirty="0" err="1"/>
              <a:t>결측치를</a:t>
            </a:r>
            <a:r>
              <a:rPr lang="ko-KR" altLang="en-US" sz="1200" dirty="0"/>
              <a:t> 전체 평균값으로 대체하게 되면</a:t>
            </a:r>
            <a:r>
              <a:rPr lang="en-US" altLang="ko-KR" sz="1200" dirty="0"/>
              <a:t>, </a:t>
            </a:r>
            <a:r>
              <a:rPr lang="ko-KR" altLang="en-US" sz="1200" dirty="0"/>
              <a:t>신인선수의 </a:t>
            </a:r>
            <a:r>
              <a:rPr lang="en-US" altLang="ko-KR" sz="1200" dirty="0"/>
              <a:t>OPS </a:t>
            </a:r>
            <a:r>
              <a:rPr lang="ko-KR" altLang="en-US" sz="1200" dirty="0"/>
              <a:t>기록이 평균적인 주전선수처럼 된다</a:t>
            </a:r>
            <a:r>
              <a:rPr lang="en-US" altLang="ko-KR" sz="1200" dirty="0"/>
              <a:t>. </a:t>
            </a:r>
            <a:r>
              <a:rPr lang="ko-KR" altLang="en-US" sz="1200" dirty="0"/>
              <a:t>그래서 </a:t>
            </a:r>
            <a:r>
              <a:rPr lang="ko-KR" altLang="en-US" sz="1200" dirty="0" err="1"/>
              <a:t>결측치는</a:t>
            </a:r>
            <a:r>
              <a:rPr lang="ko-KR" altLang="en-US" sz="1200" dirty="0"/>
              <a:t> </a:t>
            </a:r>
            <a:r>
              <a:rPr lang="en-US" altLang="ko-KR" sz="1200" dirty="0"/>
              <a:t>-1</a:t>
            </a:r>
            <a:r>
              <a:rPr lang="ko-KR" altLang="en-US" sz="1200" dirty="0"/>
              <a:t>를 넣은 것으로 확인된다</a:t>
            </a:r>
            <a:r>
              <a:rPr lang="en-US" altLang="ko-KR" sz="1200" dirty="0"/>
              <a:t>.</a:t>
            </a:r>
            <a:endParaRPr lang="ko-KR" altLang="en-US" sz="1200" dirty="0"/>
          </a:p>
          <a:p>
            <a:endParaRPr lang="en-US" altLang="ko-KR" sz="1200" dirty="0"/>
          </a:p>
          <a:p>
            <a:endParaRPr lang="ko-KR" altLang="en-US" sz="1200" dirty="0"/>
          </a:p>
          <a:p>
            <a:pPr>
              <a:buNone/>
            </a:pPr>
            <a:endParaRPr lang="en-US" altLang="ko-KR" sz="1200" dirty="0"/>
          </a:p>
          <a:p>
            <a:pPr>
              <a:buNone/>
            </a:pPr>
            <a:endParaRPr lang="ko-KR" altLang="en-US" sz="1200" dirty="0"/>
          </a:p>
        </p:txBody>
      </p:sp>
      <p:pic>
        <p:nvPicPr>
          <p:cNvPr id="26" name="그림 2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1E91FE8-F6A0-1AE1-4B9D-6899E7660C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06" t="14817" r="14635" b="1573"/>
          <a:stretch>
            <a:fillRect/>
          </a:stretch>
        </p:blipFill>
        <p:spPr>
          <a:xfrm>
            <a:off x="5325624" y="3241960"/>
            <a:ext cx="5579751" cy="1609086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8E8279DC-E56D-B8E1-04C2-2029CD8ED2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8743"/>
          <a:stretch>
            <a:fillRect/>
          </a:stretch>
        </p:blipFill>
        <p:spPr>
          <a:xfrm>
            <a:off x="5325625" y="5350037"/>
            <a:ext cx="5579750" cy="452242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BA27125-BD42-5A3C-131D-D960EED54545}"/>
              </a:ext>
            </a:extLst>
          </p:cNvPr>
          <p:cNvSpPr txBox="1"/>
          <p:nvPr/>
        </p:nvSpPr>
        <p:spPr>
          <a:xfrm>
            <a:off x="1919368" y="1351898"/>
            <a:ext cx="17395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spc="-300" dirty="0">
                <a:solidFill>
                  <a:schemeClr val="bg1"/>
                </a:solidFill>
              </a:rPr>
              <a:t>3</a:t>
            </a:r>
            <a:r>
              <a:rPr lang="ko-KR" altLang="en-US" sz="2400" spc="-300" dirty="0">
                <a:solidFill>
                  <a:schemeClr val="bg1"/>
                </a:solidFill>
              </a:rPr>
              <a:t>등  수상사유 </a:t>
            </a:r>
          </a:p>
        </p:txBody>
      </p:sp>
    </p:spTree>
    <p:extLst>
      <p:ext uri="{BB962C8B-B14F-4D97-AF65-F5344CB8AC3E}">
        <p14:creationId xmlns:p14="http://schemas.microsoft.com/office/powerpoint/2010/main" val="813195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38D49-D6EB-C2DF-6E8E-BE9E2946B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0D9925BC-919C-2644-7563-6EFCD90B01D9}"/>
              </a:ext>
            </a:extLst>
          </p:cNvPr>
          <p:cNvSpPr txBox="1"/>
          <p:nvPr/>
        </p:nvSpPr>
        <p:spPr>
          <a:xfrm>
            <a:off x="717131" y="423167"/>
            <a:ext cx="9228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Part 3  | </a:t>
            </a:r>
            <a:endParaRPr lang="ko-KR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9309CDE-ED14-894A-C239-1B42524F5793}"/>
              </a:ext>
            </a:extLst>
          </p:cNvPr>
          <p:cNvSpPr txBox="1"/>
          <p:nvPr/>
        </p:nvSpPr>
        <p:spPr>
          <a:xfrm>
            <a:off x="1550110" y="423167"/>
            <a:ext cx="12570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데이터 가공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A4C4C69-DCA7-0337-F56E-197646F507DA}"/>
              </a:ext>
            </a:extLst>
          </p:cNvPr>
          <p:cNvSpPr/>
          <p:nvPr/>
        </p:nvSpPr>
        <p:spPr>
          <a:xfrm>
            <a:off x="7249202" y="2144562"/>
            <a:ext cx="4001751" cy="39500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C9F4890-F42B-1FA4-B6CC-E76252A104D6}"/>
              </a:ext>
            </a:extLst>
          </p:cNvPr>
          <p:cNvSpPr/>
          <p:nvPr/>
        </p:nvSpPr>
        <p:spPr>
          <a:xfrm>
            <a:off x="7234769" y="1143514"/>
            <a:ext cx="4001751" cy="719302"/>
          </a:xfrm>
          <a:prstGeom prst="rect">
            <a:avLst/>
          </a:prstGeom>
          <a:solidFill>
            <a:srgbClr val="A3D4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56A989-9BF1-EBD5-1546-5DFC88F50B9E}"/>
              </a:ext>
            </a:extLst>
          </p:cNvPr>
          <p:cNvSpPr txBox="1"/>
          <p:nvPr/>
        </p:nvSpPr>
        <p:spPr>
          <a:xfrm>
            <a:off x="2789158" y="14275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613FF97-C226-6E02-2371-CA517E80836B}"/>
              </a:ext>
            </a:extLst>
          </p:cNvPr>
          <p:cNvSpPr/>
          <p:nvPr/>
        </p:nvSpPr>
        <p:spPr>
          <a:xfrm>
            <a:off x="751155" y="1143514"/>
            <a:ext cx="6152470" cy="510883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E6CB0F-D9BC-4A5D-C8F3-E451F92CA258}"/>
              </a:ext>
            </a:extLst>
          </p:cNvPr>
          <p:cNvSpPr txBox="1"/>
          <p:nvPr/>
        </p:nvSpPr>
        <p:spPr>
          <a:xfrm>
            <a:off x="7435835" y="2476940"/>
            <a:ext cx="359411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(1) </a:t>
            </a:r>
            <a:r>
              <a:rPr lang="ko-KR" altLang="en-US" sz="1200" dirty="0"/>
              <a:t>누적 기록과 </a:t>
            </a:r>
            <a:r>
              <a:rPr lang="en-US" altLang="ko-KR" sz="1200" dirty="0"/>
              <a:t>Lag </a:t>
            </a:r>
            <a:r>
              <a:rPr lang="ko-KR" altLang="en-US" sz="1200" dirty="0"/>
              <a:t>기록 활용</a:t>
            </a:r>
            <a:endParaRPr lang="en-US" altLang="ko-KR" sz="1200" dirty="0"/>
          </a:p>
          <a:p>
            <a:pPr>
              <a:buNone/>
            </a:pPr>
            <a:r>
              <a:rPr lang="en-US" altLang="ko-KR" sz="1200" dirty="0"/>
              <a:t>AB(</a:t>
            </a:r>
            <a:r>
              <a:rPr lang="ko-KR" altLang="en-US" sz="1200" dirty="0" err="1"/>
              <a:t>타석수</a:t>
            </a:r>
            <a:r>
              <a:rPr lang="en-US" altLang="ko-KR" sz="1200" dirty="0"/>
              <a:t>)</a:t>
            </a:r>
            <a:r>
              <a:rPr lang="ko-KR" altLang="en-US" sz="1200" dirty="0"/>
              <a:t>와 </a:t>
            </a:r>
            <a:r>
              <a:rPr lang="en-US" altLang="ko-KR" sz="1200" dirty="0" err="1"/>
              <a:t>var_name</a:t>
            </a:r>
            <a:r>
              <a:rPr lang="en-US" altLang="ko-KR" sz="1200" dirty="0"/>
              <a:t>(</a:t>
            </a:r>
            <a:r>
              <a:rPr lang="ko-KR" altLang="en-US" sz="1200" dirty="0"/>
              <a:t>지정한 성적</a:t>
            </a:r>
            <a:r>
              <a:rPr lang="en-US" altLang="ko-KR" sz="1200" dirty="0"/>
              <a:t>) </a:t>
            </a:r>
            <a:r>
              <a:rPr lang="ko-KR" altLang="en-US" sz="1200" dirty="0"/>
              <a:t>변수에 대해 반복문을 돌렸다</a:t>
            </a:r>
            <a:r>
              <a:rPr lang="en-US" altLang="ko-KR" sz="1200" dirty="0"/>
              <a:t>. Lag </a:t>
            </a:r>
            <a:r>
              <a:rPr lang="ko-KR" altLang="en-US" sz="1200" dirty="0"/>
              <a:t>변수에 빈 벡터를 할당하여 선수별로 과거 </a:t>
            </a:r>
            <a:r>
              <a:rPr lang="en-US" altLang="ko-KR" sz="1200" dirty="0"/>
              <a:t>‘past’</a:t>
            </a:r>
            <a:r>
              <a:rPr lang="ko-KR" altLang="en-US" sz="1200" dirty="0" err="1"/>
              <a:t>년전</a:t>
            </a:r>
            <a:r>
              <a:rPr lang="ko-KR" altLang="en-US" sz="1200" dirty="0"/>
              <a:t> 성적을 구해주었다</a:t>
            </a:r>
            <a:endParaRPr lang="en-US" altLang="ko-KR" sz="1200" dirty="0"/>
          </a:p>
          <a:p>
            <a:pPr>
              <a:buNone/>
            </a:pPr>
            <a:endParaRPr lang="en-US" altLang="ko-KR" sz="1200" dirty="0"/>
          </a:p>
          <a:p>
            <a:pPr>
              <a:buNone/>
            </a:pPr>
            <a:endParaRPr lang="en-US" altLang="ko-KR" sz="1200" dirty="0"/>
          </a:p>
          <a:p>
            <a:r>
              <a:rPr lang="en-US" altLang="ko-KR" sz="1200" dirty="0"/>
              <a:t>(2) </a:t>
            </a:r>
            <a:r>
              <a:rPr lang="ko-KR" altLang="en-US" sz="1200" dirty="0" err="1"/>
              <a:t>결측치</a:t>
            </a:r>
            <a:r>
              <a:rPr lang="ko-KR" altLang="en-US" sz="1200" dirty="0"/>
              <a:t> 처리 지우기</a:t>
            </a:r>
            <a:endParaRPr lang="en-US" altLang="ko-KR" sz="1200" dirty="0"/>
          </a:p>
          <a:p>
            <a:r>
              <a:rPr lang="en-US" altLang="ko-KR" sz="1200" dirty="0"/>
              <a:t>AB(</a:t>
            </a:r>
            <a:r>
              <a:rPr lang="ko-KR" altLang="en-US" sz="1200" dirty="0" err="1"/>
              <a:t>타석수</a:t>
            </a:r>
            <a:r>
              <a:rPr lang="en-US" altLang="ko-KR" sz="1200" dirty="0"/>
              <a:t>)</a:t>
            </a:r>
            <a:r>
              <a:rPr lang="ko-KR" altLang="en-US" sz="1200" dirty="0"/>
              <a:t>가 </a:t>
            </a:r>
            <a:r>
              <a:rPr lang="en-US" altLang="ko-KR" sz="1200" dirty="0"/>
              <a:t>30</a:t>
            </a:r>
            <a:r>
              <a:rPr lang="ko-KR" altLang="en-US" sz="1200" dirty="0"/>
              <a:t>미만이면 해당 성적도 </a:t>
            </a:r>
            <a:r>
              <a:rPr lang="en-US" altLang="ko-KR" sz="1200" dirty="0"/>
              <a:t>NA</a:t>
            </a:r>
            <a:r>
              <a:rPr lang="ko-KR" altLang="en-US" sz="1200" dirty="0"/>
              <a:t>처리했다</a:t>
            </a:r>
            <a:r>
              <a:rPr lang="en-US" altLang="ko-KR" sz="1200" dirty="0"/>
              <a:t>. </a:t>
            </a:r>
            <a:r>
              <a:rPr lang="ko-KR" altLang="en-US" sz="1200" dirty="0"/>
              <a:t>한 시즌에 타석이 너무 적으면</a:t>
            </a:r>
            <a:r>
              <a:rPr lang="en-US" altLang="ko-KR" sz="1200" dirty="0"/>
              <a:t>(</a:t>
            </a:r>
            <a:r>
              <a:rPr lang="ko-KR" altLang="en-US" sz="1200" dirty="0"/>
              <a:t>기준 </a:t>
            </a:r>
            <a:r>
              <a:rPr lang="en-US" altLang="ko-KR" sz="1200" dirty="0"/>
              <a:t>30</a:t>
            </a:r>
            <a:r>
              <a:rPr lang="ko-KR" altLang="en-US" sz="1200" dirty="0"/>
              <a:t>타석 미만</a:t>
            </a:r>
            <a:r>
              <a:rPr lang="en-US" altLang="ko-KR" sz="1200" dirty="0"/>
              <a:t>) </a:t>
            </a:r>
            <a:r>
              <a:rPr lang="ko-KR" altLang="en-US" sz="1200" dirty="0"/>
              <a:t>이 선수의 기록은 실력보다는 운이 크게 작용한 결과로 본다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E3BD8F-C055-370E-64A8-DACAF434515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/>
          <a:stretch>
            <a:fillRect/>
          </a:stretch>
        </p:blipFill>
        <p:spPr>
          <a:xfrm>
            <a:off x="976619" y="1513622"/>
            <a:ext cx="5732582" cy="31827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4C085E1-F957-E4CA-44F4-5CD811085A59}"/>
              </a:ext>
            </a:extLst>
          </p:cNvPr>
          <p:cNvSpPr txBox="1"/>
          <p:nvPr/>
        </p:nvSpPr>
        <p:spPr>
          <a:xfrm>
            <a:off x="841180" y="1236623"/>
            <a:ext cx="32330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(1) </a:t>
            </a:r>
            <a:r>
              <a:rPr lang="ko-KR" altLang="en-US" sz="1200" dirty="0"/>
              <a:t>누적 기록과 </a:t>
            </a:r>
            <a:r>
              <a:rPr lang="en-US" altLang="ko-KR" sz="1200" dirty="0"/>
              <a:t>Lag </a:t>
            </a:r>
            <a:r>
              <a:rPr lang="ko-KR" altLang="en-US" sz="1200" dirty="0"/>
              <a:t>기록 활용</a:t>
            </a:r>
          </a:p>
        </p:txBody>
      </p:sp>
      <p:pic>
        <p:nvPicPr>
          <p:cNvPr id="9" name="그림 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8F0171E-D120-94D6-864C-BD8CD258B5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162"/>
          <a:stretch>
            <a:fillRect/>
          </a:stretch>
        </p:blipFill>
        <p:spPr>
          <a:xfrm>
            <a:off x="976619" y="5009048"/>
            <a:ext cx="5732582" cy="10863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6077705-DA6A-12D2-06DF-6CFC8BBE503C}"/>
              </a:ext>
            </a:extLst>
          </p:cNvPr>
          <p:cNvSpPr txBox="1"/>
          <p:nvPr/>
        </p:nvSpPr>
        <p:spPr>
          <a:xfrm>
            <a:off x="841180" y="4742932"/>
            <a:ext cx="32330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(2) </a:t>
            </a:r>
            <a:r>
              <a:rPr lang="ko-KR" altLang="en-US" sz="1200" dirty="0" err="1"/>
              <a:t>결측치</a:t>
            </a:r>
            <a:r>
              <a:rPr lang="ko-KR" altLang="en-US" sz="1200" dirty="0"/>
              <a:t> 처리 지우기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A407C4-01F5-B568-B877-9CAB518BB65D}"/>
              </a:ext>
            </a:extLst>
          </p:cNvPr>
          <p:cNvSpPr txBox="1"/>
          <p:nvPr/>
        </p:nvSpPr>
        <p:spPr>
          <a:xfrm>
            <a:off x="8363102" y="1311192"/>
            <a:ext cx="17395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spc="-300" dirty="0">
                <a:solidFill>
                  <a:schemeClr val="bg1"/>
                </a:solidFill>
              </a:rPr>
              <a:t>1</a:t>
            </a:r>
            <a:r>
              <a:rPr lang="ko-KR" altLang="en-US" sz="2400" spc="-300" dirty="0">
                <a:solidFill>
                  <a:schemeClr val="bg1"/>
                </a:solidFill>
              </a:rPr>
              <a:t>등  수상사유 </a:t>
            </a:r>
          </a:p>
        </p:txBody>
      </p:sp>
    </p:spTree>
    <p:extLst>
      <p:ext uri="{BB962C8B-B14F-4D97-AF65-F5344CB8AC3E}">
        <p14:creationId xmlns:p14="http://schemas.microsoft.com/office/powerpoint/2010/main" val="1093717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3EE71-94D3-1B24-D225-93E8235D7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E07CF171-180F-E6DD-8D14-B451555E1F9E}"/>
              </a:ext>
            </a:extLst>
          </p:cNvPr>
          <p:cNvSpPr txBox="1"/>
          <p:nvPr/>
        </p:nvSpPr>
        <p:spPr>
          <a:xfrm>
            <a:off x="717131" y="423167"/>
            <a:ext cx="9228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Part 3  | </a:t>
            </a:r>
            <a:endParaRPr lang="ko-KR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0CC96FD-350A-3B4E-FFE5-E8FB1959C1F6}"/>
              </a:ext>
            </a:extLst>
          </p:cNvPr>
          <p:cNvSpPr txBox="1"/>
          <p:nvPr/>
        </p:nvSpPr>
        <p:spPr>
          <a:xfrm>
            <a:off x="1550110" y="423167"/>
            <a:ext cx="10518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모델 선택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934B936-3C93-C723-2437-4B7CE97C8280}"/>
              </a:ext>
            </a:extLst>
          </p:cNvPr>
          <p:cNvSpPr/>
          <p:nvPr/>
        </p:nvSpPr>
        <p:spPr>
          <a:xfrm>
            <a:off x="869611" y="2235082"/>
            <a:ext cx="4001751" cy="39500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6942E12-3670-E840-D86D-88FE49C25D18}"/>
              </a:ext>
            </a:extLst>
          </p:cNvPr>
          <p:cNvSpPr/>
          <p:nvPr/>
        </p:nvSpPr>
        <p:spPr>
          <a:xfrm>
            <a:off x="869610" y="1206368"/>
            <a:ext cx="4001751" cy="719302"/>
          </a:xfrm>
          <a:prstGeom prst="rect">
            <a:avLst/>
          </a:prstGeom>
          <a:solidFill>
            <a:srgbClr val="A3D4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D06F31-5BA8-70EF-A40C-8EEAFB60B885}"/>
              </a:ext>
            </a:extLst>
          </p:cNvPr>
          <p:cNvSpPr txBox="1"/>
          <p:nvPr/>
        </p:nvSpPr>
        <p:spPr>
          <a:xfrm>
            <a:off x="2789158" y="14275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6D27FDF-EA40-6B70-4A9E-2857F5729D11}"/>
              </a:ext>
            </a:extLst>
          </p:cNvPr>
          <p:cNvSpPr/>
          <p:nvPr/>
        </p:nvSpPr>
        <p:spPr>
          <a:xfrm>
            <a:off x="5169919" y="1076325"/>
            <a:ext cx="6152470" cy="510883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0" name="데이터가공">
            <a:extLst>
              <a:ext uri="{FF2B5EF4-FFF2-40B4-BE49-F238E27FC236}">
                <a16:creationId xmlns:a16="http://schemas.microsoft.com/office/drawing/2014/main" id="{38F3B369-B154-7ABE-3AF1-52296ED73F19}"/>
              </a:ext>
            </a:extLst>
          </p:cNvPr>
          <p:cNvGrpSpPr/>
          <p:nvPr/>
        </p:nvGrpSpPr>
        <p:grpSpPr>
          <a:xfrm>
            <a:off x="5374244" y="1289020"/>
            <a:ext cx="4141229" cy="1962464"/>
            <a:chOff x="711316" y="538146"/>
            <a:chExt cx="7905965" cy="2394720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49021C1-6FC9-F6E2-EF1B-7666C46837F3}"/>
                </a:ext>
              </a:extLst>
            </p:cNvPr>
            <p:cNvSpPr txBox="1"/>
            <p:nvPr/>
          </p:nvSpPr>
          <p:spPr>
            <a:xfrm>
              <a:off x="711316" y="538146"/>
              <a:ext cx="6172201" cy="3380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ko-KR" sz="1200" dirty="0"/>
                <a:t>(1) Ridge </a:t>
              </a:r>
              <a:r>
                <a:rPr lang="ko-KR" altLang="en-US" sz="1200" dirty="0"/>
                <a:t>모델 정의 </a:t>
              </a:r>
              <a:r>
                <a:rPr lang="en-US" altLang="ko-KR" sz="1200" dirty="0"/>
                <a:t>(</a:t>
              </a:r>
              <a:r>
                <a:rPr lang="ko-KR" altLang="en-US" sz="1200" dirty="0" err="1"/>
                <a:t>규제항</a:t>
              </a:r>
              <a:r>
                <a:rPr lang="ko-KR" altLang="en-US" sz="1200" dirty="0"/>
                <a:t> 사용 선언</a:t>
              </a:r>
              <a:r>
                <a:rPr lang="en-US" altLang="ko-KR" sz="1200" dirty="0"/>
                <a:t>)</a:t>
              </a:r>
              <a:endParaRPr lang="ko-KR" altLang="en-US" sz="1200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534F874-0C74-0526-7F29-86E874B58840}"/>
                </a:ext>
              </a:extLst>
            </p:cNvPr>
            <p:cNvSpPr txBox="1"/>
            <p:nvPr/>
          </p:nvSpPr>
          <p:spPr>
            <a:xfrm>
              <a:off x="711316" y="2594855"/>
              <a:ext cx="7905965" cy="3380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ko-KR" sz="1200" dirty="0"/>
                <a:t>(2) Ridge </a:t>
              </a:r>
              <a:r>
                <a:rPr lang="ko-KR" altLang="en-US" sz="1200" dirty="0"/>
                <a:t>모델 사용 </a:t>
              </a:r>
              <a:r>
                <a:rPr lang="en-US" altLang="ko-KR" sz="1200" dirty="0"/>
                <a:t>(</a:t>
              </a:r>
              <a:r>
                <a:rPr lang="ko-KR" altLang="en-US" sz="1200" dirty="0" err="1"/>
                <a:t>규제항</a:t>
              </a:r>
              <a:r>
                <a:rPr lang="ko-KR" altLang="en-US" sz="1200" dirty="0"/>
                <a:t> 적용 실행</a:t>
              </a:r>
              <a:r>
                <a:rPr lang="en-US" altLang="ko-KR" sz="1200" dirty="0"/>
                <a:t>)</a:t>
              </a:r>
              <a:endParaRPr lang="ko-KR" altLang="en-US" sz="120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D26DF3EF-3D16-A1ED-C516-CD46691DB457}"/>
              </a:ext>
            </a:extLst>
          </p:cNvPr>
          <p:cNvSpPr txBox="1"/>
          <p:nvPr/>
        </p:nvSpPr>
        <p:spPr>
          <a:xfrm>
            <a:off x="927657" y="2370317"/>
            <a:ext cx="367038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200" dirty="0"/>
              <a:t>(1) (1) ridge </a:t>
            </a:r>
            <a:r>
              <a:rPr lang="ko-KR" altLang="en-US" sz="1200" dirty="0"/>
              <a:t>모델 정의</a:t>
            </a:r>
            <a:r>
              <a:rPr lang="en-US" altLang="ko-KR" sz="1200" dirty="0"/>
              <a:t>(</a:t>
            </a:r>
            <a:r>
              <a:rPr lang="ko-KR" altLang="en-US" sz="1200" dirty="0" err="1"/>
              <a:t>규제항</a:t>
            </a:r>
            <a:r>
              <a:rPr lang="ko-KR" altLang="en-US" sz="1200" dirty="0"/>
              <a:t> 사용 선언</a:t>
            </a:r>
            <a:r>
              <a:rPr lang="en-US" altLang="ko-KR" sz="1200" dirty="0"/>
              <a:t>)</a:t>
            </a:r>
          </a:p>
          <a:p>
            <a:pPr>
              <a:buNone/>
            </a:pPr>
            <a:endParaRPr lang="en-US" altLang="ko-KR" sz="1200" dirty="0"/>
          </a:p>
          <a:p>
            <a:pPr>
              <a:buNone/>
            </a:pP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Ridge </a:t>
            </a:r>
            <a:r>
              <a:rPr lang="ko-KR" altLang="en-US" sz="1200" dirty="0"/>
              <a:t>모델은 </a:t>
            </a:r>
            <a:r>
              <a:rPr lang="en-US" altLang="ko-KR" sz="1200" dirty="0"/>
              <a:t>L2 </a:t>
            </a:r>
            <a:r>
              <a:rPr lang="ko-KR" altLang="en-US" sz="1200" dirty="0"/>
              <a:t>규제항을 포함하는 선형 회귀의 한 형태다</a:t>
            </a:r>
            <a:r>
              <a:rPr lang="en-US" altLang="ko-KR" sz="1200" dirty="0"/>
              <a:t>. Ridge</a:t>
            </a:r>
            <a:r>
              <a:rPr lang="ko-KR" altLang="en-US" sz="1200" dirty="0"/>
              <a:t>는 </a:t>
            </a:r>
            <a:r>
              <a:rPr lang="en-US" altLang="ko-KR" sz="1200" dirty="0"/>
              <a:t>L2 </a:t>
            </a:r>
            <a:r>
              <a:rPr lang="ko-KR" altLang="en-US" sz="1200" dirty="0"/>
              <a:t>규제항으로 과적합을 방지하려고 했다</a:t>
            </a:r>
            <a:r>
              <a:rPr lang="en-US" altLang="ko-KR" sz="1200" dirty="0"/>
              <a:t>. </a:t>
            </a:r>
          </a:p>
          <a:p>
            <a:pPr>
              <a:buNone/>
            </a:pPr>
            <a:r>
              <a:rPr lang="ko-KR" altLang="en-US" sz="1200" dirty="0"/>
              <a:t>규제의 강도를 조절하는 </a:t>
            </a:r>
            <a:r>
              <a:rPr lang="ko-KR" altLang="en-US" sz="1200" dirty="0" err="1"/>
              <a:t>하이퍼파라미터인</a:t>
            </a:r>
            <a:r>
              <a:rPr lang="ko-KR" altLang="en-US" sz="1200" dirty="0"/>
              <a:t> 람다로 모델의 복잡도를 낮춰 과적합을 낮췄다</a:t>
            </a:r>
            <a:r>
              <a:rPr lang="en-US" altLang="ko-KR" sz="1200" dirty="0"/>
              <a:t>. </a:t>
            </a:r>
          </a:p>
          <a:p>
            <a:pPr>
              <a:buNone/>
            </a:pPr>
            <a:r>
              <a:rPr lang="en-US" altLang="ko-KR" sz="1200" dirty="0"/>
              <a:t>(</a:t>
            </a:r>
            <a:r>
              <a:rPr lang="ko-KR" altLang="en-US" sz="1200" dirty="0"/>
              <a:t>다중공산성 문제 해결</a:t>
            </a:r>
            <a:r>
              <a:rPr lang="en-US" altLang="ko-KR" sz="1200" dirty="0"/>
              <a:t>)</a:t>
            </a:r>
          </a:p>
          <a:p>
            <a:pPr>
              <a:buNone/>
            </a:pPr>
            <a:r>
              <a:rPr lang="ko-KR" altLang="en-US" sz="1200" dirty="0"/>
              <a:t>가중치 값의 크기를 제한하여 가중치의 과도한 변동성을 억제하고 모델 예측을 </a:t>
            </a:r>
            <a:r>
              <a:rPr lang="ko-KR" altLang="en-US" sz="1200" dirty="0" err="1"/>
              <a:t>안정화했다</a:t>
            </a:r>
            <a:r>
              <a:rPr lang="en-US" altLang="ko-KR" sz="1200" dirty="0"/>
              <a:t>.</a:t>
            </a:r>
          </a:p>
          <a:p>
            <a:pPr>
              <a:buNone/>
            </a:pPr>
            <a:r>
              <a:rPr lang="en-US" altLang="ko-KR" sz="1200" dirty="0"/>
              <a:t>(2) Ridge </a:t>
            </a:r>
            <a:r>
              <a:rPr lang="ko-KR" altLang="en-US" sz="1200" dirty="0"/>
              <a:t>모델 사용 </a:t>
            </a:r>
            <a:r>
              <a:rPr lang="en-US" altLang="ko-KR" sz="1200" dirty="0"/>
              <a:t>(</a:t>
            </a:r>
            <a:r>
              <a:rPr lang="ko-KR" altLang="en-US" sz="1200" dirty="0" err="1"/>
              <a:t>규제항</a:t>
            </a:r>
            <a:r>
              <a:rPr lang="ko-KR" altLang="en-US" sz="1200" dirty="0"/>
              <a:t> 적용 실행</a:t>
            </a:r>
            <a:r>
              <a:rPr lang="en-US" altLang="ko-KR" sz="1200" dirty="0"/>
              <a:t>)</a:t>
            </a:r>
          </a:p>
          <a:p>
            <a:pPr>
              <a:buNone/>
            </a:pPr>
            <a:r>
              <a:rPr lang="ko-KR" altLang="en-US" sz="1200" dirty="0"/>
              <a:t>학습</a:t>
            </a:r>
            <a:r>
              <a:rPr lang="en-US" altLang="ko-KR" sz="1200" dirty="0"/>
              <a:t>(</a:t>
            </a:r>
            <a:r>
              <a:rPr lang="en-US" altLang="ko-KR" sz="1200" dirty="0" err="1"/>
              <a:t>Model.fit</a:t>
            </a:r>
            <a:r>
              <a:rPr lang="en-US" altLang="ko-KR" sz="1200" dirty="0"/>
              <a:t> )</a:t>
            </a:r>
            <a:r>
              <a:rPr lang="ko-KR" altLang="en-US" sz="1200" dirty="0"/>
              <a:t>시킬 때 </a:t>
            </a:r>
            <a:r>
              <a:rPr lang="en-US" altLang="ko-KR" sz="1200" dirty="0"/>
              <a:t>Ridge </a:t>
            </a:r>
            <a:r>
              <a:rPr lang="ko-KR" altLang="en-US" sz="1200" dirty="0"/>
              <a:t>모델의 </a:t>
            </a:r>
            <a:r>
              <a:rPr lang="en-US" altLang="ko-KR" sz="1200" dirty="0"/>
              <a:t>L2 </a:t>
            </a:r>
            <a:r>
              <a:rPr lang="ko-KR" altLang="en-US" sz="1200" dirty="0"/>
              <a:t>규제항이 자동으로 작동한다</a:t>
            </a:r>
            <a:r>
              <a:rPr lang="en-US" altLang="ko-KR" sz="1200" dirty="0"/>
              <a:t>. </a:t>
            </a:r>
          </a:p>
          <a:p>
            <a:pPr>
              <a:buNone/>
            </a:pPr>
            <a:r>
              <a:rPr lang="ko-KR" altLang="en-US" sz="1200" dirty="0"/>
              <a:t>또한 </a:t>
            </a:r>
            <a:r>
              <a:rPr lang="ko-KR" altLang="en-US" sz="1200" dirty="0" err="1"/>
              <a:t>규제항</a:t>
            </a:r>
            <a:r>
              <a:rPr lang="ko-KR" altLang="en-US" sz="1200" dirty="0"/>
              <a:t> 크기를 조절하는 </a:t>
            </a:r>
            <a:r>
              <a:rPr lang="ko-KR" altLang="en-US" sz="1200" dirty="0" err="1"/>
              <a:t>하이퍼파라미터를</a:t>
            </a:r>
            <a:r>
              <a:rPr lang="ko-KR" altLang="en-US" sz="1200" dirty="0"/>
              <a:t> 지정하지 않았으므로</a:t>
            </a:r>
            <a:r>
              <a:rPr lang="en-US" altLang="ko-KR" sz="1200" dirty="0"/>
              <a:t>, </a:t>
            </a:r>
            <a:r>
              <a:rPr lang="ko-KR" altLang="en-US" sz="1200" dirty="0"/>
              <a:t>기본값 규제</a:t>
            </a:r>
            <a:r>
              <a:rPr lang="en-US" altLang="ko-KR" sz="1200" dirty="0"/>
              <a:t>(</a:t>
            </a:r>
            <a:r>
              <a:rPr lang="ko-KR" altLang="en-US" sz="1200" dirty="0"/>
              <a:t>람다</a:t>
            </a:r>
            <a:r>
              <a:rPr lang="en-US" altLang="ko-KR" sz="1200"/>
              <a:t>=1)</a:t>
            </a:r>
            <a:r>
              <a:rPr lang="ko-KR" altLang="en-US" sz="1200"/>
              <a:t>가 </a:t>
            </a:r>
            <a:r>
              <a:rPr lang="ko-KR" altLang="en-US" sz="1200" dirty="0"/>
              <a:t>적용한 상태로 모델이 작동한다</a:t>
            </a:r>
            <a:r>
              <a:rPr lang="en-US" altLang="ko-KR" sz="1200" dirty="0"/>
              <a:t>. </a:t>
            </a:r>
          </a:p>
          <a:p>
            <a:pPr>
              <a:buNone/>
            </a:pPr>
            <a:r>
              <a:rPr lang="ko-KR" altLang="en-US" sz="1200" dirty="0"/>
              <a:t>그래서 </a:t>
            </a:r>
            <a:r>
              <a:rPr lang="en-US" altLang="ko-KR" sz="1200" dirty="0" err="1"/>
              <a:t>x_cols</a:t>
            </a:r>
            <a:r>
              <a:rPr lang="ko-KR" altLang="en-US" sz="1200" dirty="0"/>
              <a:t>의 변수 </a:t>
            </a:r>
            <a:r>
              <a:rPr lang="en-US" altLang="ko-KR" sz="1200" dirty="0"/>
              <a:t>101</a:t>
            </a:r>
            <a:r>
              <a:rPr lang="ko-KR" altLang="en-US" sz="1200" dirty="0"/>
              <a:t>개  피처를 가중치로 제어하여 과적합을 방지했다</a:t>
            </a:r>
            <a:r>
              <a:rPr lang="en-US" altLang="ko-KR" sz="1200" dirty="0"/>
              <a:t>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D30CD3-B251-A84B-1A34-850538CDEBD1}"/>
              </a:ext>
            </a:extLst>
          </p:cNvPr>
          <p:cNvSpPr txBox="1"/>
          <p:nvPr/>
        </p:nvSpPr>
        <p:spPr>
          <a:xfrm>
            <a:off x="1919368" y="1351898"/>
            <a:ext cx="17395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spc="-300" dirty="0">
                <a:solidFill>
                  <a:schemeClr val="bg1"/>
                </a:solidFill>
              </a:rPr>
              <a:t>3</a:t>
            </a:r>
            <a:r>
              <a:rPr lang="ko-KR" altLang="en-US" sz="2400" spc="-300" dirty="0">
                <a:solidFill>
                  <a:schemeClr val="bg1"/>
                </a:solidFill>
              </a:rPr>
              <a:t>등  수상사유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8130447-428D-692D-2687-BA8DDD28C8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492"/>
          <a:stretch>
            <a:fillRect/>
          </a:stretch>
        </p:blipFill>
        <p:spPr>
          <a:xfrm>
            <a:off x="5325624" y="1612186"/>
            <a:ext cx="5579751" cy="117264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BFE7E24-D8CA-0CD3-DB03-12E1ACC79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09" y="2597014"/>
            <a:ext cx="2088691" cy="515971"/>
          </a:xfrm>
          <a:prstGeom prst="rect">
            <a:avLst/>
          </a:prstGeom>
        </p:spPr>
      </p:pic>
      <p:pic>
        <p:nvPicPr>
          <p:cNvPr id="13" name="그림 1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F8E0F5A-08E7-654F-59DA-6FFCD5DCE95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135"/>
          <a:stretch>
            <a:fillRect/>
          </a:stretch>
        </p:blipFill>
        <p:spPr>
          <a:xfrm>
            <a:off x="5325624" y="3355462"/>
            <a:ext cx="5380476" cy="1630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224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34D10-37F8-CE9D-370A-F1511D553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B0F71CBC-C688-2925-E69B-8C58163C3CAA}"/>
              </a:ext>
            </a:extLst>
          </p:cNvPr>
          <p:cNvSpPr txBox="1"/>
          <p:nvPr/>
        </p:nvSpPr>
        <p:spPr>
          <a:xfrm>
            <a:off x="717131" y="423167"/>
            <a:ext cx="9228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Part 3  | </a:t>
            </a:r>
            <a:endParaRPr lang="ko-KR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411F551-3E39-C502-9A32-FBD871823299}"/>
              </a:ext>
            </a:extLst>
          </p:cNvPr>
          <p:cNvSpPr txBox="1"/>
          <p:nvPr/>
        </p:nvSpPr>
        <p:spPr>
          <a:xfrm>
            <a:off x="1550110" y="423167"/>
            <a:ext cx="10518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모델 선택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99AEC04-9146-28B1-3646-704143BE3E00}"/>
              </a:ext>
            </a:extLst>
          </p:cNvPr>
          <p:cNvSpPr/>
          <p:nvPr/>
        </p:nvSpPr>
        <p:spPr>
          <a:xfrm>
            <a:off x="7249202" y="2144562"/>
            <a:ext cx="4001751" cy="39500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1475DB5-E009-E5B3-1DE7-5EDD28E36F8F}"/>
              </a:ext>
            </a:extLst>
          </p:cNvPr>
          <p:cNvSpPr/>
          <p:nvPr/>
        </p:nvSpPr>
        <p:spPr>
          <a:xfrm>
            <a:off x="7234769" y="1143514"/>
            <a:ext cx="4001751" cy="719302"/>
          </a:xfrm>
          <a:prstGeom prst="rect">
            <a:avLst/>
          </a:prstGeom>
          <a:solidFill>
            <a:srgbClr val="A3D4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3C62E0-6265-AF21-F282-B8806B6CA4B0}"/>
              </a:ext>
            </a:extLst>
          </p:cNvPr>
          <p:cNvSpPr txBox="1"/>
          <p:nvPr/>
        </p:nvSpPr>
        <p:spPr>
          <a:xfrm>
            <a:off x="2789158" y="14275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D8106A5-F8AE-FBC3-2A6C-C69F7669D93B}"/>
              </a:ext>
            </a:extLst>
          </p:cNvPr>
          <p:cNvSpPr/>
          <p:nvPr/>
        </p:nvSpPr>
        <p:spPr>
          <a:xfrm>
            <a:off x="751155" y="1143514"/>
            <a:ext cx="6152470" cy="510883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F8FC12-A81B-AC26-BC6A-C3232B5417C0}"/>
              </a:ext>
            </a:extLst>
          </p:cNvPr>
          <p:cNvSpPr txBox="1"/>
          <p:nvPr/>
        </p:nvSpPr>
        <p:spPr>
          <a:xfrm>
            <a:off x="7435835" y="2476940"/>
            <a:ext cx="359411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arenBoth"/>
            </a:pPr>
            <a:r>
              <a:rPr lang="ko-KR" altLang="en-US" sz="1200" dirty="0"/>
              <a:t>후보 모델 학습</a:t>
            </a:r>
            <a:endParaRPr lang="en-US" altLang="ko-KR" sz="1200" dirty="0"/>
          </a:p>
          <a:p>
            <a:r>
              <a:rPr lang="en-US" altLang="ko-KR" sz="1200" dirty="0"/>
              <a:t>Lasso(</a:t>
            </a:r>
            <a:r>
              <a:rPr lang="ko-KR" altLang="en-US" sz="1200" dirty="0"/>
              <a:t>선형규제</a:t>
            </a:r>
            <a:r>
              <a:rPr lang="en-US" altLang="ko-KR" sz="1200" dirty="0"/>
              <a:t>), Random Forest(RF, </a:t>
            </a:r>
            <a:r>
              <a:rPr lang="ko-KR" altLang="en-US" sz="1200" dirty="0"/>
              <a:t>앙상블 트리</a:t>
            </a:r>
            <a:r>
              <a:rPr lang="en-US" altLang="ko-KR" sz="1200" dirty="0"/>
              <a:t>), </a:t>
            </a:r>
            <a:r>
              <a:rPr lang="en-US" altLang="ko-KR" sz="1200" dirty="0" err="1"/>
              <a:t>XGBoost</a:t>
            </a:r>
            <a:r>
              <a:rPr lang="en-US" altLang="ko-KR" sz="1200" dirty="0"/>
              <a:t>(</a:t>
            </a:r>
            <a:r>
              <a:rPr lang="ko-KR" altLang="en-US" sz="1200" dirty="0" err="1"/>
              <a:t>부스팅</a:t>
            </a:r>
            <a:r>
              <a:rPr lang="en-US" altLang="ko-KR" sz="1200" dirty="0"/>
              <a:t>) </a:t>
            </a:r>
            <a:r>
              <a:rPr lang="ko-KR" altLang="en-US" sz="1200" dirty="0"/>
              <a:t>세 가지 모델을  경쟁시킴</a:t>
            </a:r>
            <a:r>
              <a:rPr lang="en-US" altLang="ko-KR" sz="1200" dirty="0"/>
              <a:t>. SLG </a:t>
            </a:r>
            <a:r>
              <a:rPr lang="ko-KR" altLang="en-US" sz="1200" dirty="0"/>
              <a:t>데이터와 </a:t>
            </a:r>
            <a:r>
              <a:rPr lang="en-US" altLang="ko-KR" sz="1200" dirty="0"/>
              <a:t>RF </a:t>
            </a:r>
            <a:r>
              <a:rPr lang="ko-KR" altLang="en-US" sz="1200" dirty="0"/>
              <a:t>모델을 학습시킴</a:t>
            </a:r>
            <a:endParaRPr lang="en-US" altLang="ko-KR" sz="1200" dirty="0"/>
          </a:p>
          <a:p>
            <a:pPr>
              <a:buNone/>
            </a:pPr>
            <a:endParaRPr lang="en-US" altLang="ko-KR" sz="1200" dirty="0"/>
          </a:p>
          <a:p>
            <a:r>
              <a:rPr lang="en-US" altLang="ko-KR" sz="1200" dirty="0"/>
              <a:t>(2) </a:t>
            </a:r>
            <a:r>
              <a:rPr lang="ko-KR" altLang="en-US" sz="1200" dirty="0"/>
              <a:t>최종 모델 선택</a:t>
            </a:r>
            <a:endParaRPr lang="en-US" altLang="ko-KR" sz="1200" dirty="0"/>
          </a:p>
          <a:p>
            <a:r>
              <a:rPr lang="ko-KR" altLang="en-US" sz="1200" dirty="0"/>
              <a:t>직접 정의한 </a:t>
            </a:r>
            <a:r>
              <a:rPr lang="en-US" altLang="ko-KR" sz="1200" dirty="0"/>
              <a:t>WRMSE</a:t>
            </a:r>
            <a:r>
              <a:rPr lang="ko-KR" altLang="en-US" sz="1200" dirty="0"/>
              <a:t>함수 </a:t>
            </a:r>
            <a:r>
              <a:rPr lang="en-US" altLang="ko-KR" sz="1200" dirty="0"/>
              <a:t>(</a:t>
            </a:r>
            <a:r>
              <a:rPr lang="ko-KR" altLang="en-US" sz="1200" dirty="0"/>
              <a:t>평가기준에 자세히 언급할 예정</a:t>
            </a:r>
            <a:r>
              <a:rPr lang="en-US" altLang="ko-KR" sz="1200" dirty="0"/>
              <a:t>) </a:t>
            </a:r>
            <a:r>
              <a:rPr lang="ko-KR" altLang="en-US" sz="1200" dirty="0"/>
              <a:t>세 모델의 오차를 비교한 결과</a:t>
            </a:r>
            <a:r>
              <a:rPr lang="en-US" altLang="ko-KR" sz="1200" dirty="0"/>
              <a:t>, </a:t>
            </a:r>
            <a:r>
              <a:rPr lang="ko-KR" altLang="en-US" sz="1200" dirty="0"/>
              <a:t>랜덤 </a:t>
            </a:r>
            <a:r>
              <a:rPr lang="ko-KR" altLang="en-US" sz="1200" dirty="0" err="1"/>
              <a:t>포레스트가</a:t>
            </a:r>
            <a:r>
              <a:rPr lang="ko-KR" altLang="en-US" sz="1200" dirty="0"/>
              <a:t> 가장 낮아 최종 모델로 선택함</a:t>
            </a:r>
            <a:endParaRPr lang="en-US" altLang="ko-KR" sz="1200" dirty="0"/>
          </a:p>
          <a:p>
            <a:r>
              <a:rPr lang="ko-KR" altLang="en-US" sz="1200" dirty="0"/>
              <a:t>랜덤 </a:t>
            </a:r>
            <a:r>
              <a:rPr lang="ko-KR" altLang="en-US" sz="1200" dirty="0" err="1"/>
              <a:t>포레스트가</a:t>
            </a:r>
            <a:r>
              <a:rPr lang="ko-KR" altLang="en-US" sz="1200" dirty="0"/>
              <a:t> 핵심 피처들 간의 복잡한 비선형 관계를 잘 포착</a:t>
            </a:r>
            <a:r>
              <a:rPr lang="en-US" altLang="ko-KR" sz="1200" dirty="0"/>
              <a:t>, </a:t>
            </a:r>
            <a:r>
              <a:rPr lang="ko-KR" altLang="en-US" sz="1200" dirty="0"/>
              <a:t>앙상블 학습을 통해 낮은 </a:t>
            </a:r>
            <a:r>
              <a:rPr lang="en-US" altLang="ko-KR" sz="1200" dirty="0"/>
              <a:t>WRMSE </a:t>
            </a:r>
            <a:r>
              <a:rPr lang="ko-KR" altLang="en-US" sz="1200" dirty="0"/>
              <a:t>달성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13A630-943B-84BB-A724-308E7A19C04A}"/>
              </a:ext>
            </a:extLst>
          </p:cNvPr>
          <p:cNvSpPr txBox="1"/>
          <p:nvPr/>
        </p:nvSpPr>
        <p:spPr>
          <a:xfrm>
            <a:off x="841180" y="1236623"/>
            <a:ext cx="32330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(1) </a:t>
            </a:r>
            <a:r>
              <a:rPr lang="ko-KR" altLang="en-US" sz="1200" dirty="0"/>
              <a:t>후보 모델 학습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27BDD7-9DC4-C16C-6AC7-B6FC328628D2}"/>
              </a:ext>
            </a:extLst>
          </p:cNvPr>
          <p:cNvSpPr txBox="1"/>
          <p:nvPr/>
        </p:nvSpPr>
        <p:spPr>
          <a:xfrm>
            <a:off x="8363102" y="1311192"/>
            <a:ext cx="17395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spc="-300" dirty="0">
                <a:solidFill>
                  <a:schemeClr val="bg1"/>
                </a:solidFill>
              </a:rPr>
              <a:t>1</a:t>
            </a:r>
            <a:r>
              <a:rPr lang="ko-KR" altLang="en-US" sz="2400" spc="-300" dirty="0">
                <a:solidFill>
                  <a:schemeClr val="bg1"/>
                </a:solidFill>
              </a:rPr>
              <a:t>등  수상사유 </a:t>
            </a:r>
          </a:p>
        </p:txBody>
      </p:sp>
      <p:pic>
        <p:nvPicPr>
          <p:cNvPr id="14" name="그림 1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E593402-4240-8BE1-A821-AA3CFD73E4D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68689" y="4145572"/>
            <a:ext cx="5740513" cy="83038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239B6E5-8AF3-E3CF-6D19-F7C20C558E6E}"/>
              </a:ext>
            </a:extLst>
          </p:cNvPr>
          <p:cNvSpPr txBox="1"/>
          <p:nvPr/>
        </p:nvSpPr>
        <p:spPr>
          <a:xfrm>
            <a:off x="871356" y="3868573"/>
            <a:ext cx="32330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(2) </a:t>
            </a:r>
            <a:r>
              <a:rPr lang="ko-KR" altLang="en-US" sz="1200" dirty="0"/>
              <a:t>최종 모델 선택</a:t>
            </a:r>
            <a:endParaRPr lang="en-US" altLang="ko-KR" sz="1200" dirty="0"/>
          </a:p>
          <a:p>
            <a:endParaRPr lang="ko-KR" altLang="en-US" sz="1200" dirty="0"/>
          </a:p>
        </p:txBody>
      </p:sp>
      <p:pic>
        <p:nvPicPr>
          <p:cNvPr id="18" name="그림 17" descr="텍스트, 폰트, 소프트웨어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3FBAA47-1FA1-038B-CD82-A9C9D1F3C5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688" y="1594093"/>
            <a:ext cx="5740514" cy="202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954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AC479-AE2F-57C6-9435-EE9B777D0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F8C081F8-1A36-D4E5-4455-B8CBE88C5EE1}"/>
              </a:ext>
            </a:extLst>
          </p:cNvPr>
          <p:cNvSpPr txBox="1"/>
          <p:nvPr/>
        </p:nvSpPr>
        <p:spPr>
          <a:xfrm>
            <a:off x="717131" y="423167"/>
            <a:ext cx="9228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Part 3  | </a:t>
            </a:r>
            <a:endParaRPr lang="ko-KR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047FC26-FD6F-0D54-A5E4-A7A0C94761D7}"/>
              </a:ext>
            </a:extLst>
          </p:cNvPr>
          <p:cNvSpPr txBox="1"/>
          <p:nvPr/>
        </p:nvSpPr>
        <p:spPr>
          <a:xfrm>
            <a:off x="1550110" y="423167"/>
            <a:ext cx="16674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평가기준 최적화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5D74B08-7591-01E3-C3CE-08B767D4F834}"/>
              </a:ext>
            </a:extLst>
          </p:cNvPr>
          <p:cNvSpPr/>
          <p:nvPr/>
        </p:nvSpPr>
        <p:spPr>
          <a:xfrm>
            <a:off x="869611" y="2235082"/>
            <a:ext cx="4001751" cy="39500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3BD60D4-CA72-51F8-767D-0E222F11439A}"/>
              </a:ext>
            </a:extLst>
          </p:cNvPr>
          <p:cNvSpPr/>
          <p:nvPr/>
        </p:nvSpPr>
        <p:spPr>
          <a:xfrm>
            <a:off x="869610" y="1206368"/>
            <a:ext cx="4001751" cy="719302"/>
          </a:xfrm>
          <a:prstGeom prst="rect">
            <a:avLst/>
          </a:prstGeom>
          <a:solidFill>
            <a:srgbClr val="A3D4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2DD00C-38E8-11D5-20C8-CBA71114B89D}"/>
              </a:ext>
            </a:extLst>
          </p:cNvPr>
          <p:cNvSpPr txBox="1"/>
          <p:nvPr/>
        </p:nvSpPr>
        <p:spPr>
          <a:xfrm>
            <a:off x="2789158" y="14275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D351603-83C6-319E-D1A3-963DCECAF4A5}"/>
              </a:ext>
            </a:extLst>
          </p:cNvPr>
          <p:cNvSpPr/>
          <p:nvPr/>
        </p:nvSpPr>
        <p:spPr>
          <a:xfrm>
            <a:off x="5169919" y="1076325"/>
            <a:ext cx="6152470" cy="510883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0" name="데이터가공">
            <a:extLst>
              <a:ext uri="{FF2B5EF4-FFF2-40B4-BE49-F238E27FC236}">
                <a16:creationId xmlns:a16="http://schemas.microsoft.com/office/drawing/2014/main" id="{3851A13E-2DE0-B6DD-EA28-00BFC9619B5B}"/>
              </a:ext>
            </a:extLst>
          </p:cNvPr>
          <p:cNvGrpSpPr/>
          <p:nvPr/>
        </p:nvGrpSpPr>
        <p:grpSpPr>
          <a:xfrm>
            <a:off x="5374244" y="1289020"/>
            <a:ext cx="4141229" cy="1962464"/>
            <a:chOff x="711316" y="538146"/>
            <a:chExt cx="7905965" cy="2394720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2B6308D-8E60-38E0-36DA-23ECD4A65FEE}"/>
                </a:ext>
              </a:extLst>
            </p:cNvPr>
            <p:cNvSpPr txBox="1"/>
            <p:nvPr/>
          </p:nvSpPr>
          <p:spPr>
            <a:xfrm>
              <a:off x="711316" y="538146"/>
              <a:ext cx="6172201" cy="3380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ko-KR" sz="1200" dirty="0"/>
                <a:t>(1) </a:t>
              </a:r>
              <a:r>
                <a:rPr lang="ko-KR" altLang="en-US" sz="1200" dirty="0"/>
                <a:t>모델 학습 시 </a:t>
              </a:r>
              <a:r>
                <a:rPr lang="en-US" altLang="ko-KR" sz="1200" dirty="0"/>
                <a:t>(</a:t>
              </a:r>
              <a:r>
                <a:rPr lang="en-US" altLang="ko-KR" sz="1200" dirty="0" err="1"/>
                <a:t>model.fit</a:t>
              </a:r>
              <a:r>
                <a:rPr lang="en-US" altLang="ko-KR" sz="1200" dirty="0"/>
                <a:t>) </a:t>
              </a:r>
              <a:r>
                <a:rPr lang="ko-KR" altLang="en-US" sz="1200" dirty="0"/>
                <a:t>가중치 적용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F0A3B98-1203-A9C3-5FB0-10E6EFA3D3E7}"/>
                </a:ext>
              </a:extLst>
            </p:cNvPr>
            <p:cNvSpPr txBox="1"/>
            <p:nvPr/>
          </p:nvSpPr>
          <p:spPr>
            <a:xfrm>
              <a:off x="711316" y="2594855"/>
              <a:ext cx="7905965" cy="3380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ko-KR" sz="1200" dirty="0"/>
                <a:t>(2) </a:t>
              </a:r>
              <a:r>
                <a:rPr lang="ko-KR" altLang="en-US" sz="1200" dirty="0"/>
                <a:t>평가 시 </a:t>
              </a:r>
              <a:r>
                <a:rPr lang="en-US" altLang="ko-KR" sz="1200" dirty="0"/>
                <a:t>(</a:t>
              </a:r>
              <a:r>
                <a:rPr lang="en-US" altLang="ko-KR" sz="1200" dirty="0" err="1"/>
                <a:t>mean_squared_error</a:t>
              </a:r>
              <a:r>
                <a:rPr lang="en-US" altLang="ko-KR" sz="1200" dirty="0"/>
                <a:t>) </a:t>
              </a:r>
              <a:r>
                <a:rPr lang="ko-KR" altLang="en-US" sz="1200" dirty="0"/>
                <a:t>가중치 적용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523E42B1-B591-E7C5-E3DC-CE55E1D47471}"/>
              </a:ext>
            </a:extLst>
          </p:cNvPr>
          <p:cNvSpPr txBox="1"/>
          <p:nvPr/>
        </p:nvSpPr>
        <p:spPr>
          <a:xfrm>
            <a:off x="1919368" y="1351898"/>
            <a:ext cx="17395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spc="-300" dirty="0">
                <a:solidFill>
                  <a:schemeClr val="bg1"/>
                </a:solidFill>
              </a:rPr>
              <a:t>3</a:t>
            </a:r>
            <a:r>
              <a:rPr lang="ko-KR" altLang="en-US" sz="2400" spc="-300" dirty="0">
                <a:solidFill>
                  <a:schemeClr val="bg1"/>
                </a:solidFill>
              </a:rPr>
              <a:t>등  수상사유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2A3E4E-0021-85CB-E5E1-F47A069893B0}"/>
              </a:ext>
            </a:extLst>
          </p:cNvPr>
          <p:cNvSpPr txBox="1"/>
          <p:nvPr/>
        </p:nvSpPr>
        <p:spPr>
          <a:xfrm>
            <a:off x="992099" y="2466653"/>
            <a:ext cx="359411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(1) </a:t>
            </a:r>
            <a:r>
              <a:rPr lang="ko-KR" altLang="en-US" sz="1200" dirty="0"/>
              <a:t>모델 학습 시 </a:t>
            </a:r>
            <a:r>
              <a:rPr lang="en-US" altLang="ko-KR" sz="1200" dirty="0"/>
              <a:t>(</a:t>
            </a:r>
            <a:r>
              <a:rPr lang="en-US" altLang="ko-KR" sz="1200" dirty="0" err="1"/>
              <a:t>model.fit</a:t>
            </a:r>
            <a:r>
              <a:rPr lang="en-US" altLang="ko-KR" sz="1200" dirty="0"/>
              <a:t>) </a:t>
            </a:r>
            <a:r>
              <a:rPr lang="ko-KR" altLang="en-US" sz="1200" dirty="0"/>
              <a:t>가중치 적용</a:t>
            </a:r>
            <a:r>
              <a:rPr lang="en-US" altLang="ko-KR" sz="1200" dirty="0"/>
              <a:t>(</a:t>
            </a:r>
          </a:p>
          <a:p>
            <a:pPr>
              <a:buNone/>
            </a:pPr>
            <a:r>
              <a:rPr lang="en-US" altLang="ko-KR" sz="1200" dirty="0"/>
              <a:t>Ridge </a:t>
            </a:r>
            <a:r>
              <a:rPr lang="ko-KR" altLang="en-US" sz="1200" dirty="0"/>
              <a:t>모델이 </a:t>
            </a:r>
            <a:r>
              <a:rPr lang="en-US" altLang="ko-KR" sz="1200" dirty="0"/>
              <a:t>'</a:t>
            </a:r>
            <a:r>
              <a:rPr lang="ko-KR" altLang="en-US" sz="1200" dirty="0"/>
              <a:t>타수</a:t>
            </a:r>
            <a:r>
              <a:rPr lang="en-US" altLang="ko-KR" sz="1200" dirty="0"/>
              <a:t>'(AB)</a:t>
            </a:r>
            <a:r>
              <a:rPr lang="ko-KR" altLang="en-US" sz="1200" dirty="0"/>
              <a:t>를 반영하여 주전 선수 데이터에 집중하여 학습하게 함</a:t>
            </a:r>
            <a:endParaRPr lang="en-US" altLang="ko-KR" sz="1200" dirty="0"/>
          </a:p>
          <a:p>
            <a:pPr>
              <a:buNone/>
            </a:pPr>
            <a:r>
              <a:rPr lang="ko-KR" altLang="en-US" sz="1200" dirty="0"/>
              <a:t>여기서 </a:t>
            </a:r>
            <a:r>
              <a:rPr lang="en-US" altLang="ko-KR" sz="1200" dirty="0"/>
              <a:t>weight = train['</a:t>
            </a:r>
            <a:r>
              <a:rPr lang="ko-KR" altLang="en-US" sz="1200" dirty="0"/>
              <a:t>타수</a:t>
            </a:r>
            <a:r>
              <a:rPr lang="en-US" altLang="ko-KR" sz="1200" dirty="0"/>
              <a:t>＇] </a:t>
            </a:r>
            <a:r>
              <a:rPr lang="ko-KR" altLang="en-US" sz="1200" dirty="0"/>
              <a:t>는 </a:t>
            </a:r>
            <a:r>
              <a:rPr lang="en-US" altLang="ko-KR" sz="1200" dirty="0"/>
              <a:t>'</a:t>
            </a:r>
            <a:r>
              <a:rPr lang="ko-KR" altLang="en-US" sz="1200" dirty="0"/>
              <a:t>타수</a:t>
            </a:r>
            <a:r>
              <a:rPr lang="en-US" altLang="ko-KR" sz="1200" dirty="0"/>
              <a:t>'</a:t>
            </a:r>
            <a:r>
              <a:rPr lang="ko-KR" altLang="en-US" sz="1200" dirty="0"/>
              <a:t>를 가중치로 정의한 것이다</a:t>
            </a:r>
            <a:r>
              <a:rPr lang="en-US" altLang="ko-KR" sz="1200" dirty="0"/>
              <a:t>. </a:t>
            </a:r>
          </a:p>
          <a:p>
            <a:pPr>
              <a:buNone/>
            </a:pPr>
            <a:endParaRPr lang="en-US" altLang="ko-KR" sz="1200" dirty="0"/>
          </a:p>
          <a:p>
            <a:pPr>
              <a:buNone/>
            </a:pPr>
            <a:r>
              <a:rPr lang="en-US" altLang="ko-KR" sz="1200" dirty="0"/>
              <a:t>(2) </a:t>
            </a:r>
            <a:r>
              <a:rPr lang="ko-KR" altLang="en-US" sz="1200" dirty="0"/>
              <a:t>평가 시 </a:t>
            </a:r>
            <a:r>
              <a:rPr lang="en-US" altLang="ko-KR" sz="1200" dirty="0"/>
              <a:t>(</a:t>
            </a:r>
            <a:r>
              <a:rPr lang="en-US" altLang="ko-KR" sz="1200" dirty="0" err="1"/>
              <a:t>mean_squared_error</a:t>
            </a:r>
            <a:r>
              <a:rPr lang="en-US" altLang="ko-KR" sz="1200" dirty="0"/>
              <a:t>) </a:t>
            </a:r>
            <a:r>
              <a:rPr lang="ko-KR" altLang="en-US" sz="1200" dirty="0"/>
              <a:t>가중치 적용</a:t>
            </a:r>
            <a:endParaRPr lang="en-US" altLang="ko-KR" sz="1200" dirty="0"/>
          </a:p>
          <a:p>
            <a:pPr>
              <a:buNone/>
            </a:pPr>
            <a:endParaRPr lang="en-US" altLang="ko-KR" sz="1200" dirty="0"/>
          </a:p>
          <a:p>
            <a:pPr>
              <a:buNone/>
            </a:pPr>
            <a:endParaRPr lang="en-US" altLang="ko-KR" sz="1200" dirty="0"/>
          </a:p>
          <a:p>
            <a:pPr>
              <a:buNone/>
            </a:pPr>
            <a:endParaRPr lang="en-US" altLang="ko-KR" sz="1200" dirty="0"/>
          </a:p>
          <a:p>
            <a:pPr>
              <a:buNone/>
            </a:pPr>
            <a:r>
              <a:rPr lang="ko-KR" altLang="en-US" sz="1200" dirty="0"/>
              <a:t>최종 오차 계산 시에도 타수</a:t>
            </a:r>
            <a:r>
              <a:rPr lang="en-US" altLang="ko-KR" sz="1200" dirty="0"/>
              <a:t>(AB)</a:t>
            </a:r>
            <a:r>
              <a:rPr lang="ko-KR" altLang="en-US" sz="1200" dirty="0"/>
              <a:t>가 많은 선수의 오차에 가중치를 부여했다</a:t>
            </a:r>
            <a:r>
              <a:rPr lang="en-US" altLang="ko-KR" sz="1200" dirty="0"/>
              <a:t>. </a:t>
            </a:r>
          </a:p>
          <a:p>
            <a:r>
              <a:rPr lang="en-US" altLang="ko-KR" sz="1200" dirty="0" err="1"/>
              <a:t>sample_weight</a:t>
            </a:r>
            <a:r>
              <a:rPr lang="ko-KR" altLang="en-US" sz="1200" dirty="0"/>
              <a:t>에 </a:t>
            </a:r>
            <a:r>
              <a:rPr lang="en-US" altLang="ko-KR" sz="1200" dirty="0"/>
              <a:t>'</a:t>
            </a:r>
            <a:r>
              <a:rPr lang="ko-KR" altLang="en-US" sz="1200" dirty="0"/>
              <a:t>타수</a:t>
            </a:r>
            <a:r>
              <a:rPr lang="en-US" altLang="ko-KR" sz="1200" dirty="0"/>
              <a:t>'</a:t>
            </a:r>
            <a:r>
              <a:rPr lang="ko-KR" altLang="en-US" sz="1200" dirty="0"/>
              <a:t>를 넣어 </a:t>
            </a:r>
            <a:r>
              <a:rPr lang="en-US" altLang="ko-KR" sz="1200" dirty="0" err="1"/>
              <a:t>WRMSE</a:t>
            </a:r>
            <a:r>
              <a:rPr lang="en-US" altLang="ko-KR" sz="1200" dirty="0"/>
              <a:t> (</a:t>
            </a:r>
            <a:r>
              <a:rPr lang="ko-KR" altLang="en-US" sz="1200" dirty="0" err="1"/>
              <a:t>가중평균제곱근</a:t>
            </a:r>
            <a:r>
              <a:rPr lang="ko-KR" altLang="en-US" sz="1200" dirty="0"/>
              <a:t> 오차</a:t>
            </a:r>
            <a:r>
              <a:rPr lang="en-US" altLang="ko-KR" sz="1200" dirty="0"/>
              <a:t>=</a:t>
            </a:r>
            <a:r>
              <a:rPr lang="en-US" altLang="ko-KR" sz="1200" dirty="0" err="1"/>
              <a:t>RMSE</a:t>
            </a:r>
            <a:r>
              <a:rPr lang="ko-KR" altLang="en-US" sz="1200" dirty="0"/>
              <a:t>에 가중치 적용해서 중요도를 다르게 구별</a:t>
            </a:r>
            <a:r>
              <a:rPr lang="en-US" altLang="ko-KR" sz="1200" dirty="0"/>
              <a:t>)</a:t>
            </a:r>
            <a:r>
              <a:rPr lang="ko-KR" altLang="en-US" sz="1200" dirty="0"/>
              <a:t>를 계산 후 제곱근</a:t>
            </a:r>
            <a:r>
              <a:rPr lang="en-US" altLang="ko-KR" sz="1200" dirty="0"/>
              <a:t>(0.5)</a:t>
            </a:r>
            <a:r>
              <a:rPr lang="ko-KR" altLang="en-US" sz="1200" dirty="0"/>
              <a:t>했다</a:t>
            </a:r>
            <a:r>
              <a:rPr lang="en-US" altLang="ko-KR" sz="1200" dirty="0"/>
              <a:t>.</a:t>
            </a:r>
          </a:p>
          <a:p>
            <a:pPr>
              <a:buNone/>
            </a:pPr>
            <a:r>
              <a:rPr lang="ko-KR" altLang="en-US" sz="1200" dirty="0"/>
              <a:t>모델 학습과정에도 최종 평가에도 사용했다 </a:t>
            </a:r>
            <a:r>
              <a:rPr lang="en-US" altLang="ko-KR" sz="1200" dirty="0"/>
              <a:t>(</a:t>
            </a:r>
            <a:r>
              <a:rPr lang="ko-KR" altLang="en-US" sz="1200" dirty="0"/>
              <a:t>학습 목표</a:t>
            </a:r>
            <a:r>
              <a:rPr lang="en-US" altLang="ko-KR" sz="1200" dirty="0"/>
              <a:t>+</a:t>
            </a:r>
            <a:r>
              <a:rPr lang="ko-KR" altLang="en-US" sz="1200" dirty="0"/>
              <a:t>평가 기준</a:t>
            </a:r>
            <a:r>
              <a:rPr lang="en-US" altLang="ko-KR" sz="1200" dirty="0"/>
              <a:t>)</a:t>
            </a:r>
          </a:p>
          <a:p>
            <a:pPr>
              <a:buNone/>
            </a:pPr>
            <a:r>
              <a:rPr lang="en-US" altLang="ko-KR" sz="1200" dirty="0"/>
              <a:t>=&gt; </a:t>
            </a:r>
            <a:r>
              <a:rPr lang="ko-KR" altLang="en-US" sz="1200" dirty="0"/>
              <a:t>모델이 계수</a:t>
            </a:r>
            <a:r>
              <a:rPr lang="en-US" altLang="ko-KR" sz="1200" dirty="0"/>
              <a:t>(</a:t>
            </a:r>
            <a:r>
              <a:rPr lang="ko-KR" altLang="en-US" sz="1200" dirty="0"/>
              <a:t>베타</a:t>
            </a:r>
            <a:r>
              <a:rPr lang="en-US" altLang="ko-KR" sz="1200" dirty="0"/>
              <a:t>)</a:t>
            </a:r>
            <a:r>
              <a:rPr lang="ko-KR" altLang="en-US" sz="1200" dirty="0"/>
              <a:t>를 찾는 과정 자체를 변형시켜</a:t>
            </a:r>
            <a:r>
              <a:rPr lang="en-US" altLang="ko-KR" sz="1200" dirty="0"/>
              <a:t>, </a:t>
            </a:r>
            <a:r>
              <a:rPr lang="ko-KR" altLang="en-US" sz="1200" dirty="0"/>
              <a:t>주전 선수의 오차를 줄이는 방향으로 모델을 최적화하도록 강제했다</a:t>
            </a:r>
            <a:r>
              <a:rPr lang="en-US" altLang="ko-KR" sz="1200" dirty="0"/>
              <a:t>. </a:t>
            </a:r>
            <a:r>
              <a:rPr lang="ko-KR" altLang="en-US" sz="1200" dirty="0"/>
              <a:t>즉 </a:t>
            </a:r>
            <a:r>
              <a:rPr lang="ko-KR" altLang="en-US" sz="1200" b="1" u="sng" dirty="0"/>
              <a:t>모델의 가중치 자체를 최적화</a:t>
            </a:r>
            <a:r>
              <a:rPr lang="ko-KR" altLang="en-US" sz="1200" dirty="0"/>
              <a:t>했다</a:t>
            </a:r>
            <a:r>
              <a:rPr lang="en-US" altLang="ko-KR" sz="1200" dirty="0"/>
              <a:t>.</a:t>
            </a:r>
          </a:p>
          <a:p>
            <a:pPr>
              <a:buNone/>
            </a:pPr>
            <a:r>
              <a:rPr lang="ko-KR" altLang="en-US" sz="1200" dirty="0"/>
              <a:t>이유는 최적화 기준을 주전 선수</a:t>
            </a:r>
            <a:r>
              <a:rPr lang="en-US" altLang="ko-KR" sz="1200" dirty="0"/>
              <a:t>(</a:t>
            </a:r>
            <a:r>
              <a:rPr lang="ko-KR" altLang="en-US" sz="1200" dirty="0"/>
              <a:t>타수 높음</a:t>
            </a:r>
            <a:r>
              <a:rPr lang="en-US" altLang="ko-KR" sz="1200" dirty="0"/>
              <a:t>)</a:t>
            </a:r>
            <a:r>
              <a:rPr lang="ko-KR" altLang="en-US" sz="1200" dirty="0"/>
              <a:t>로 잡았다</a:t>
            </a:r>
            <a:r>
              <a:rPr lang="en-US" altLang="ko-KR" sz="1200" dirty="0"/>
              <a:t>. </a:t>
            </a:r>
            <a:r>
              <a:rPr lang="ko-KR" altLang="en-US" sz="1200" dirty="0"/>
              <a:t>이유는 한 선수가 타석에 많이 설수록 </a:t>
            </a:r>
            <a:r>
              <a:rPr lang="en-US" altLang="ko-KR" sz="1200" dirty="0"/>
              <a:t>OPS </a:t>
            </a:r>
            <a:r>
              <a:rPr lang="ko-KR" altLang="en-US" sz="1200" dirty="0"/>
              <a:t>예측 오차에 영향을 준다</a:t>
            </a:r>
            <a:r>
              <a:rPr lang="en-US" altLang="ko-KR" sz="1200" dirty="0"/>
              <a:t>. </a:t>
            </a:r>
            <a:r>
              <a:rPr lang="ko-KR" altLang="en-US" sz="1200" dirty="0"/>
              <a:t>이는 전체 </a:t>
            </a:r>
            <a:r>
              <a:rPr lang="en-US" altLang="ko-KR" sz="1200" dirty="0" err="1"/>
              <a:t>WRMSE</a:t>
            </a:r>
            <a:r>
              <a:rPr lang="ko-KR" altLang="en-US" sz="1200" dirty="0"/>
              <a:t>에 영향을 준다</a:t>
            </a:r>
            <a:r>
              <a:rPr lang="en-US" altLang="ko-KR" sz="1200" dirty="0"/>
              <a:t>. </a:t>
            </a:r>
            <a:r>
              <a:rPr lang="ko-KR" altLang="en-US" sz="1200" dirty="0"/>
              <a:t>그래서 최적화 기준을 주전선수로 두어 오차를 줄여 노이즈 감소를 노렸다</a:t>
            </a:r>
            <a:r>
              <a:rPr lang="en-US" altLang="ko-KR" sz="1200" dirty="0"/>
              <a:t>. </a:t>
            </a:r>
            <a:endParaRPr lang="ko-KR" altLang="en-US" sz="1200" dirty="0"/>
          </a:p>
        </p:txBody>
      </p:sp>
      <p:pic>
        <p:nvPicPr>
          <p:cNvPr id="5" name="그림 4" descr="텍스트, 스크린샷, 폰트, 블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FBD4DB-E9DA-149B-DB23-71C3C1C4CED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46401" y="1613797"/>
            <a:ext cx="5339100" cy="85285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540BBAE-D1F1-8F4E-190C-A0CFA995F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632" y="3813431"/>
            <a:ext cx="2030501" cy="47360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239964E-E6F4-25CD-214C-292A34C71D3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7794" b="1869"/>
          <a:stretch>
            <a:fillRect/>
          </a:stretch>
        </p:blipFill>
        <p:spPr>
          <a:xfrm>
            <a:off x="5646401" y="3360980"/>
            <a:ext cx="5339100" cy="398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61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0B5A7-AEBC-7FE9-7DC5-6813B51A4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ECF50097-7EDF-BA33-165F-69336A9616D6}"/>
              </a:ext>
            </a:extLst>
          </p:cNvPr>
          <p:cNvSpPr txBox="1"/>
          <p:nvPr/>
        </p:nvSpPr>
        <p:spPr>
          <a:xfrm>
            <a:off x="717131" y="423167"/>
            <a:ext cx="9228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Part 3  | </a:t>
            </a:r>
            <a:endParaRPr lang="ko-KR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92A4480-D4B9-4BF0-2D53-578DB14215D3}"/>
              </a:ext>
            </a:extLst>
          </p:cNvPr>
          <p:cNvSpPr txBox="1"/>
          <p:nvPr/>
        </p:nvSpPr>
        <p:spPr>
          <a:xfrm>
            <a:off x="1550110" y="423167"/>
            <a:ext cx="16674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평가기준 최적화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8803EBE-74BF-39E0-2059-0795FE650100}"/>
              </a:ext>
            </a:extLst>
          </p:cNvPr>
          <p:cNvSpPr/>
          <p:nvPr/>
        </p:nvSpPr>
        <p:spPr>
          <a:xfrm>
            <a:off x="7249202" y="2144562"/>
            <a:ext cx="4001751" cy="39500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4FC52B7-1F83-8B48-FBE2-B791E8C25BE4}"/>
              </a:ext>
            </a:extLst>
          </p:cNvPr>
          <p:cNvSpPr/>
          <p:nvPr/>
        </p:nvSpPr>
        <p:spPr>
          <a:xfrm>
            <a:off x="7234769" y="1143514"/>
            <a:ext cx="4001751" cy="719302"/>
          </a:xfrm>
          <a:prstGeom prst="rect">
            <a:avLst/>
          </a:prstGeom>
          <a:solidFill>
            <a:srgbClr val="A3D4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2F1BB5-84AB-3088-06C1-71CA86DAEFB5}"/>
              </a:ext>
            </a:extLst>
          </p:cNvPr>
          <p:cNvSpPr txBox="1"/>
          <p:nvPr/>
        </p:nvSpPr>
        <p:spPr>
          <a:xfrm>
            <a:off x="2789158" y="14275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5087C40-AECE-BA3E-BE7C-7005C359A73D}"/>
              </a:ext>
            </a:extLst>
          </p:cNvPr>
          <p:cNvSpPr/>
          <p:nvPr/>
        </p:nvSpPr>
        <p:spPr>
          <a:xfrm>
            <a:off x="751155" y="1143514"/>
            <a:ext cx="6152470" cy="510883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1ADE2E5-8528-4E61-CA01-2767CEA17E8C}"/>
                  </a:ext>
                </a:extLst>
              </p:cNvPr>
              <p:cNvSpPr txBox="1"/>
              <p:nvPr/>
            </p:nvSpPr>
            <p:spPr>
              <a:xfrm>
                <a:off x="7312768" y="2144561"/>
                <a:ext cx="3594115" cy="54476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indent="-228600">
                  <a:buAutoNum type="arabicParenBoth"/>
                </a:pPr>
                <a:r>
                  <a:rPr lang="en-US" altLang="ko-KR" sz="1200" dirty="0"/>
                  <a:t>(3</a:t>
                </a:r>
                <a:r>
                  <a:rPr lang="ko-KR" altLang="en-US" sz="1200" dirty="0"/>
                  <a:t>등과 유사</a:t>
                </a:r>
                <a:r>
                  <a:rPr lang="en-US" altLang="ko-KR" sz="1200" dirty="0"/>
                  <a:t>) </a:t>
                </a:r>
                <a:r>
                  <a:rPr lang="en-US" altLang="ko-KR" sz="1200" dirty="0" err="1"/>
                  <a:t>WRMSE</a:t>
                </a:r>
                <a:r>
                  <a:rPr lang="en-US" altLang="ko-KR" sz="1200" dirty="0"/>
                  <a:t> </a:t>
                </a:r>
                <a:r>
                  <a:rPr lang="ko-KR" altLang="en-US" sz="1200" dirty="0"/>
                  <a:t>함수 직접 정의</a:t>
                </a:r>
                <a:endParaRPr lang="en-US" altLang="ko-KR" sz="1200" dirty="0"/>
              </a:p>
              <a:p>
                <a:pPr marL="171450" indent="-171450">
                  <a:buFontTx/>
                  <a:buChar char="-"/>
                </a:pPr>
                <a:r>
                  <a:rPr lang="en-US" altLang="ko-KR" sz="1200" dirty="0" err="1"/>
                  <a:t>WRMSE</a:t>
                </a:r>
                <a:r>
                  <a:rPr lang="en-US" altLang="ko-KR" sz="1200" dirty="0"/>
                  <a:t> </a:t>
                </a:r>
                <a:r>
                  <a:rPr lang="ko-KR" altLang="en-US" sz="1200" dirty="0"/>
                  <a:t>함수를 직접 정의하여</a:t>
                </a:r>
                <a:r>
                  <a:rPr lang="en-US" altLang="ko-KR" sz="1200" dirty="0"/>
                  <a:t>, </a:t>
                </a:r>
                <a:r>
                  <a:rPr lang="ko-KR" altLang="en-US" sz="1200" dirty="0"/>
                  <a:t>타수</a:t>
                </a:r>
                <a:r>
                  <a:rPr lang="en-US" altLang="ko-KR" sz="1200" dirty="0"/>
                  <a:t>(W)</a:t>
                </a:r>
                <a:r>
                  <a:rPr lang="ko-KR" altLang="en-US" sz="1200" dirty="0"/>
                  <a:t>를 오차 제곱</a:t>
                </a:r>
                <a:r>
                  <a:rPr lang="en-US" altLang="ko-KR" sz="12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1200" dirty="0"/>
                  <a:t>)</a:t>
                </a:r>
                <a:r>
                  <a:rPr lang="ko-KR" altLang="en-US" sz="1200" dirty="0"/>
                  <a:t>에 곱함으로써 가중치를 부여했다</a:t>
                </a:r>
                <a:r>
                  <a:rPr lang="en-US" altLang="ko-KR" sz="1200" dirty="0"/>
                  <a:t>.</a:t>
                </a:r>
              </a:p>
              <a:p>
                <a:pPr marL="171450" indent="-171450">
                  <a:buFontTx/>
                  <a:buChar char="-"/>
                </a:pPr>
                <a:r>
                  <a:rPr lang="en-US" altLang="ko-KR" sz="1200" dirty="0"/>
                  <a:t>(3</a:t>
                </a:r>
                <a:r>
                  <a:rPr lang="ko-KR" altLang="en-US" sz="1200" dirty="0"/>
                  <a:t>등과의 차이점</a:t>
                </a:r>
                <a:r>
                  <a:rPr lang="en-US" altLang="ko-KR" sz="1200" dirty="0"/>
                  <a:t>) 1</a:t>
                </a:r>
                <a:r>
                  <a:rPr lang="ko-KR" altLang="en-US" sz="1200" dirty="0"/>
                  <a:t>등은 후보 모델들만 비교할 때만 사용했다</a:t>
                </a:r>
                <a:r>
                  <a:rPr lang="en-US" altLang="ko-KR" sz="1200" dirty="0"/>
                  <a:t>. </a:t>
                </a:r>
                <a:r>
                  <a:rPr lang="ko-KR" altLang="en-US" sz="1200" dirty="0"/>
                  <a:t>이유는 최적화 대상을 모델의 가중치가 아닌 평가 점수로 했기 </a:t>
                </a:r>
                <a:r>
                  <a:rPr lang="ko-KR" altLang="en-US" sz="1200" dirty="0" err="1"/>
                  <a:t>떄문이다</a:t>
                </a:r>
                <a:r>
                  <a:rPr lang="en-US" altLang="ko-KR" sz="1200" dirty="0"/>
                  <a:t>. </a:t>
                </a:r>
                <a:r>
                  <a:rPr lang="ko-KR" altLang="en-US" sz="1200" dirty="0"/>
                  <a:t>점수만 목표에 맞게 계산됐다</a:t>
                </a:r>
                <a:r>
                  <a:rPr lang="en-US" altLang="ko-KR" sz="1200" dirty="0"/>
                  <a:t>.</a:t>
                </a:r>
              </a:p>
              <a:p>
                <a:r>
                  <a:rPr lang="en-US" altLang="ko-KR" sz="1200" dirty="0"/>
                  <a:t>(2) </a:t>
                </a:r>
                <a:r>
                  <a:rPr lang="en-US" altLang="ko-KR" sz="1200" dirty="0" err="1"/>
                  <a:t>WRMSE</a:t>
                </a:r>
                <a:r>
                  <a:rPr lang="en-US" altLang="ko-KR" sz="1200" dirty="0"/>
                  <a:t> </a:t>
                </a:r>
                <a:r>
                  <a:rPr lang="ko-KR" altLang="en-US" sz="1200" dirty="0"/>
                  <a:t>를 통한 모델 선택 및 평가</a:t>
                </a:r>
                <a:endParaRPr lang="en-US" altLang="ko-KR" sz="1200" dirty="0"/>
              </a:p>
              <a:p>
                <a:pPr marL="171450" indent="-171450">
                  <a:buFontTx/>
                  <a:buChar char="-"/>
                </a:pPr>
                <a:r>
                  <a:rPr lang="ko-KR" altLang="en-US" sz="1200" dirty="0"/>
                  <a:t>정의된 </a:t>
                </a:r>
                <a:r>
                  <a:rPr lang="en-US" altLang="ko-KR" sz="1200" dirty="0" err="1"/>
                  <a:t>WRMSE</a:t>
                </a:r>
                <a:r>
                  <a:rPr lang="en-US" altLang="ko-KR" sz="1200" dirty="0"/>
                  <a:t> </a:t>
                </a:r>
                <a:r>
                  <a:rPr lang="ko-KR" altLang="en-US" sz="1200" dirty="0"/>
                  <a:t>함수를 사용하여 세 모델의 예측 성능을 비교했다</a:t>
                </a:r>
                <a:r>
                  <a:rPr lang="en-US" altLang="ko-KR" sz="1200" dirty="0"/>
                  <a:t>. </a:t>
                </a:r>
                <a:r>
                  <a:rPr lang="ko-KR" altLang="en-US" sz="1200" dirty="0"/>
                  <a:t>이때 </a:t>
                </a:r>
                <a:r>
                  <a:rPr lang="en-US" altLang="ko-KR" sz="1200" dirty="0" err="1"/>
                  <a:t>WRMSE</a:t>
                </a:r>
                <a:r>
                  <a:rPr lang="ko-KR" altLang="en-US" sz="1200" dirty="0"/>
                  <a:t>가 낮은  </a:t>
                </a:r>
                <a:r>
                  <a:rPr lang="ko-KR" altLang="en-US" sz="1200" dirty="0" err="1"/>
                  <a:t>랜덤포레스트를</a:t>
                </a:r>
                <a:r>
                  <a:rPr lang="ko-KR" altLang="en-US" sz="1200" dirty="0"/>
                  <a:t> 택했다</a:t>
                </a:r>
                <a:r>
                  <a:rPr lang="en-US" altLang="ko-KR" sz="1200" dirty="0"/>
                  <a:t>. </a:t>
                </a:r>
              </a:p>
              <a:p>
                <a:pPr marL="171450" indent="-171450">
                  <a:buFontTx/>
                  <a:buChar char="-"/>
                </a:pPr>
                <a:r>
                  <a:rPr lang="en-US" altLang="ko-KR" sz="1200" dirty="0"/>
                  <a:t>Lasso(</a:t>
                </a:r>
                <a:r>
                  <a:rPr lang="ko-KR" altLang="en-US" sz="1200" dirty="0"/>
                  <a:t>선형 회귀모델 </a:t>
                </a:r>
                <a:r>
                  <a:rPr lang="en-US" altLang="ko-KR" sz="1200" dirty="0" err="1"/>
                  <a:t>L1</a:t>
                </a:r>
                <a:r>
                  <a:rPr lang="ko-KR" altLang="en-US" sz="1200" dirty="0" err="1"/>
                  <a:t>규제항</a:t>
                </a:r>
                <a:r>
                  <a:rPr lang="ko-KR" altLang="en-US" sz="1200" dirty="0"/>
                  <a:t> 추가한 모델</a:t>
                </a:r>
                <a:r>
                  <a:rPr lang="en-US" altLang="ko-KR" sz="1200" dirty="0"/>
                  <a:t>, </a:t>
                </a:r>
                <a:r>
                  <a:rPr lang="ko-KR" altLang="en-US" sz="1200" dirty="0"/>
                  <a:t>계수를 축소시키며 불필요한 피처 계수를 </a:t>
                </a:r>
                <a:r>
                  <a:rPr lang="en-US" altLang="ko-KR" sz="1200" dirty="0"/>
                  <a:t>0</a:t>
                </a:r>
                <a:r>
                  <a:rPr lang="ko-KR" altLang="en-US" sz="1200" dirty="0"/>
                  <a:t>으로 만들어 </a:t>
                </a:r>
                <a:r>
                  <a:rPr lang="ko-KR" altLang="en-US" sz="1200" dirty="0" err="1"/>
                  <a:t>피쳐</a:t>
                </a:r>
                <a:r>
                  <a:rPr lang="ko-KR" altLang="en-US" sz="1200" dirty="0"/>
                  <a:t> 선택 기능까지 수행</a:t>
                </a:r>
                <a:r>
                  <a:rPr lang="en-US" altLang="ko-KR" sz="1200" dirty="0"/>
                  <a:t>)</a:t>
                </a:r>
              </a:p>
              <a:p>
                <a:pPr marL="171450" indent="-171450">
                  <a:buFontTx/>
                  <a:buChar char="-"/>
                </a:pPr>
                <a:r>
                  <a:rPr lang="en-US" altLang="ko-KR" sz="1200" dirty="0" err="1"/>
                  <a:t>XGBoost</a:t>
                </a:r>
                <a:r>
                  <a:rPr lang="en-US" altLang="ko-KR" sz="1200" dirty="0"/>
                  <a:t>(</a:t>
                </a:r>
                <a:r>
                  <a:rPr lang="ko-KR" altLang="en-US" sz="1200" dirty="0" err="1"/>
                  <a:t>부스팅</a:t>
                </a:r>
                <a:r>
                  <a:rPr lang="ko-KR" altLang="en-US" sz="1200" dirty="0"/>
                  <a:t> 방식의 앙상블 트리 모델</a:t>
                </a:r>
                <a:r>
                  <a:rPr lang="en-US" altLang="ko-KR" sz="1200" dirty="0"/>
                  <a:t>, </a:t>
                </a:r>
                <a:r>
                  <a:rPr lang="ko-KR" altLang="en-US" sz="1200" dirty="0"/>
                  <a:t>이전 트리의 </a:t>
                </a:r>
                <a:r>
                  <a:rPr lang="ko-KR" altLang="en-US" sz="1200" dirty="0" err="1"/>
                  <a:t>잔차</a:t>
                </a:r>
                <a:r>
                  <a:rPr lang="en-US" altLang="ko-KR" sz="1200" dirty="0"/>
                  <a:t>(</a:t>
                </a:r>
                <a:r>
                  <a:rPr lang="ko-KR" altLang="en-US" sz="1200" dirty="0"/>
                  <a:t>오차</a:t>
                </a:r>
                <a:r>
                  <a:rPr lang="en-US" altLang="ko-KR" sz="1200" dirty="0"/>
                  <a:t>)</a:t>
                </a:r>
                <a:r>
                  <a:rPr lang="ko-KR" altLang="en-US" sz="1200" dirty="0"/>
                  <a:t>를 보완하도록 새로운 트리를 순차적으로 추가</a:t>
                </a:r>
                <a:r>
                  <a:rPr lang="en-US" altLang="ko-KR" sz="1200" dirty="0"/>
                  <a:t>, </a:t>
                </a:r>
                <a:r>
                  <a:rPr lang="ko-KR" altLang="en-US" sz="1200" dirty="0"/>
                  <a:t>높은 정확도를 자랑하나 튜닝에 따라 </a:t>
                </a:r>
                <a:r>
                  <a:rPr lang="ko-KR" altLang="en-US" sz="1200" dirty="0" err="1"/>
                  <a:t>과적합</a:t>
                </a:r>
                <a:r>
                  <a:rPr lang="ko-KR" altLang="en-US" sz="1200" dirty="0"/>
                  <a:t> 위험이 있음</a:t>
                </a:r>
                <a:r>
                  <a:rPr lang="en-US" altLang="ko-KR" sz="1200" dirty="0"/>
                  <a:t>)</a:t>
                </a:r>
              </a:p>
              <a:p>
                <a:pPr marL="171450" indent="-171450">
                  <a:buFontTx/>
                  <a:buChar char="-"/>
                </a:pPr>
                <a:r>
                  <a:rPr lang="en-US" altLang="ko-KR" sz="1200" dirty="0">
                    <a:solidFill>
                      <a:srgbClr val="FF0000"/>
                    </a:solidFill>
                  </a:rPr>
                  <a:t>(</a:t>
                </a:r>
                <a:r>
                  <a:rPr lang="ko-KR" altLang="en-US" sz="1200" dirty="0" err="1">
                    <a:solidFill>
                      <a:srgbClr val="FF0000"/>
                    </a:solidFill>
                  </a:rPr>
                  <a:t>랜덤포레스트</a:t>
                </a:r>
                <a:r>
                  <a:rPr lang="en-US" altLang="ko-KR" sz="1200" dirty="0">
                    <a:solidFill>
                      <a:srgbClr val="FF0000"/>
                    </a:solidFill>
                  </a:rPr>
                  <a:t>-(</a:t>
                </a:r>
                <a:r>
                  <a:rPr lang="ko-KR" altLang="en-US" sz="1200" dirty="0" err="1">
                    <a:solidFill>
                      <a:srgbClr val="FF0000"/>
                    </a:solidFill>
                  </a:rPr>
                  <a:t>택한사유</a:t>
                </a:r>
                <a:r>
                  <a:rPr lang="en-US" altLang="ko-KR" sz="1200" dirty="0">
                    <a:solidFill>
                      <a:srgbClr val="FF0000"/>
                    </a:solidFill>
                  </a:rPr>
                  <a:t>) (1) </a:t>
                </a:r>
                <a:r>
                  <a:rPr lang="ko-KR" altLang="en-US" sz="1200" dirty="0">
                    <a:solidFill>
                      <a:srgbClr val="FF0000"/>
                    </a:solidFill>
                  </a:rPr>
                  <a:t>트리 기반 모델로 비선형 관계 포착 능력이 있다</a:t>
                </a:r>
                <a:r>
                  <a:rPr lang="en-US" altLang="ko-KR" sz="1200" dirty="0">
                    <a:solidFill>
                      <a:srgbClr val="FF0000"/>
                    </a:solidFill>
                  </a:rPr>
                  <a:t>. </a:t>
                </a:r>
                <a:r>
                  <a:rPr lang="ko-KR" altLang="en-US" sz="1200" dirty="0">
                    <a:solidFill>
                      <a:srgbClr val="FF0000"/>
                    </a:solidFill>
                  </a:rPr>
                  <a:t>또한 </a:t>
                </a:r>
                <a:r>
                  <a:rPr lang="en-US" altLang="ko-KR" sz="1200" dirty="0">
                    <a:solidFill>
                      <a:srgbClr val="FF0000"/>
                    </a:solidFill>
                  </a:rPr>
                  <a:t>(2) </a:t>
                </a:r>
                <a:r>
                  <a:rPr lang="ko-KR" altLang="en-US" sz="1200" dirty="0" err="1">
                    <a:solidFill>
                      <a:srgbClr val="FF0000"/>
                    </a:solidFill>
                  </a:rPr>
                  <a:t>배깅</a:t>
                </a:r>
                <a:r>
                  <a:rPr lang="ko-KR" altLang="en-US" sz="1200" dirty="0">
                    <a:solidFill>
                      <a:srgbClr val="FF0000"/>
                    </a:solidFill>
                  </a:rPr>
                  <a:t> 방식</a:t>
                </a:r>
                <a:r>
                  <a:rPr lang="en-US" altLang="ko-KR" sz="1200" dirty="0">
                    <a:solidFill>
                      <a:srgbClr val="FF0000"/>
                    </a:solidFill>
                  </a:rPr>
                  <a:t>(</a:t>
                </a:r>
                <a:r>
                  <a:rPr lang="ko-KR" altLang="en-US" sz="1200" dirty="0">
                    <a:solidFill>
                      <a:srgbClr val="FF0000"/>
                    </a:solidFill>
                  </a:rPr>
                  <a:t>부트스트랩</a:t>
                </a:r>
                <a:r>
                  <a:rPr lang="en-US" altLang="ko-KR" sz="1200" dirty="0">
                    <a:solidFill>
                      <a:srgbClr val="FF0000"/>
                    </a:solidFill>
                  </a:rPr>
                  <a:t>-</a:t>
                </a:r>
                <a:r>
                  <a:rPr lang="ko-KR" altLang="en-US" sz="1200" dirty="0">
                    <a:solidFill>
                      <a:srgbClr val="FF0000"/>
                    </a:solidFill>
                  </a:rPr>
                  <a:t>훈련 데이터셋에서 복원 추출을 통해 여러 개의 부분데이터셋을 만듦</a:t>
                </a:r>
                <a:r>
                  <a:rPr lang="en-US" altLang="ko-KR" sz="1200" dirty="0">
                    <a:solidFill>
                      <a:srgbClr val="FF0000"/>
                    </a:solidFill>
                  </a:rPr>
                  <a:t>, </a:t>
                </a:r>
                <a:r>
                  <a:rPr lang="ko-KR" altLang="en-US" sz="1200" dirty="0" err="1">
                    <a:solidFill>
                      <a:srgbClr val="FF0000"/>
                    </a:solidFill>
                  </a:rPr>
                  <a:t>어그리게이팅</a:t>
                </a:r>
                <a:r>
                  <a:rPr lang="en-US" altLang="ko-KR" sz="1200" dirty="0">
                    <a:solidFill>
                      <a:srgbClr val="FF0000"/>
                    </a:solidFill>
                  </a:rPr>
                  <a:t>-</a:t>
                </a:r>
                <a:r>
                  <a:rPr lang="ko-KR" altLang="en-US" sz="1200" dirty="0">
                    <a:solidFill>
                      <a:srgbClr val="FF0000"/>
                    </a:solidFill>
                  </a:rPr>
                  <a:t>부트스트랩으로 만들어진 각 서브셋을 사용하여 독립적인 예측 모델</a:t>
                </a:r>
                <a:r>
                  <a:rPr lang="en-US" altLang="ko-KR" sz="1200" dirty="0">
                    <a:solidFill>
                      <a:srgbClr val="FF0000"/>
                    </a:solidFill>
                  </a:rPr>
                  <a:t>(</a:t>
                </a:r>
                <a:r>
                  <a:rPr lang="ko-KR" altLang="en-US" sz="1200" dirty="0">
                    <a:solidFill>
                      <a:srgbClr val="FF0000"/>
                    </a:solidFill>
                  </a:rPr>
                  <a:t>트리</a:t>
                </a:r>
                <a:r>
                  <a:rPr lang="en-US" altLang="ko-KR" sz="1200" dirty="0">
                    <a:solidFill>
                      <a:srgbClr val="FF0000"/>
                    </a:solidFill>
                  </a:rPr>
                  <a:t>)</a:t>
                </a:r>
                <a:r>
                  <a:rPr lang="ko-KR" altLang="en-US" sz="1200" dirty="0">
                    <a:solidFill>
                      <a:srgbClr val="FF0000"/>
                    </a:solidFill>
                  </a:rPr>
                  <a:t>를 학습시킨 후</a:t>
                </a:r>
                <a:r>
                  <a:rPr lang="en-US" altLang="ko-KR" sz="1200" dirty="0">
                    <a:solidFill>
                      <a:srgbClr val="FF0000"/>
                    </a:solidFill>
                  </a:rPr>
                  <a:t>, </a:t>
                </a:r>
                <a:r>
                  <a:rPr lang="ko-KR" altLang="en-US" sz="1200" dirty="0">
                    <a:solidFill>
                      <a:srgbClr val="FF0000"/>
                    </a:solidFill>
                  </a:rPr>
                  <a:t>결과를 하나로 합침</a:t>
                </a:r>
                <a:r>
                  <a:rPr lang="en-US" altLang="ko-KR" sz="1200" dirty="0">
                    <a:solidFill>
                      <a:srgbClr val="FF0000"/>
                    </a:solidFill>
                  </a:rPr>
                  <a:t>)</a:t>
                </a:r>
                <a:r>
                  <a:rPr lang="ko-KR" altLang="en-US" sz="1200" dirty="0">
                    <a:solidFill>
                      <a:srgbClr val="FF0000"/>
                    </a:solidFill>
                  </a:rPr>
                  <a:t> 단계를 거침</a:t>
                </a:r>
                <a:r>
                  <a:rPr lang="en-US" altLang="ko-KR" sz="1200" dirty="0">
                    <a:solidFill>
                      <a:srgbClr val="FF0000"/>
                    </a:solidFill>
                  </a:rPr>
                  <a:t>)</a:t>
                </a:r>
                <a:r>
                  <a:rPr lang="ko-KR" altLang="en-US" sz="1200" dirty="0">
                    <a:solidFill>
                      <a:srgbClr val="FF0000"/>
                    </a:solidFill>
                  </a:rPr>
                  <a:t>으로 트리의 평균을 사용해 안정성과 과적합에 방지가 된다</a:t>
                </a:r>
                <a:r>
                  <a:rPr lang="en-US" altLang="ko-KR" sz="1200" dirty="0">
                    <a:solidFill>
                      <a:srgbClr val="FF0000"/>
                    </a:solidFill>
                  </a:rPr>
                  <a:t> (3) </a:t>
                </a:r>
                <a:r>
                  <a:rPr lang="ko-KR" altLang="en-US" sz="1200" dirty="0" err="1">
                    <a:solidFill>
                      <a:srgbClr val="FF0000"/>
                    </a:solidFill>
                  </a:rPr>
                  <a:t>피쳐</a:t>
                </a:r>
                <a:r>
                  <a:rPr lang="ko-KR" altLang="en-US" sz="1200" dirty="0">
                    <a:solidFill>
                      <a:srgbClr val="FF0000"/>
                    </a:solidFill>
                  </a:rPr>
                  <a:t> 중요도 활용으로 모델 구축 후 </a:t>
                </a:r>
                <a:r>
                  <a:rPr lang="ko-KR" altLang="en-US" sz="1200" dirty="0" err="1">
                    <a:solidFill>
                      <a:srgbClr val="FF0000"/>
                    </a:solidFill>
                  </a:rPr>
                  <a:t>피쳐</a:t>
                </a:r>
                <a:r>
                  <a:rPr lang="ko-KR" altLang="en-US" sz="1200" dirty="0">
                    <a:solidFill>
                      <a:srgbClr val="FF0000"/>
                    </a:solidFill>
                  </a:rPr>
                  <a:t> 중요도를 쉽게 파악하여 선수 개인의 평균 성적과 나이가 중요한 피처임을 확인해 모델 신뢰도를 높였다</a:t>
                </a:r>
                <a:r>
                  <a:rPr lang="en-US" altLang="ko-KR" sz="1200" dirty="0">
                    <a:solidFill>
                      <a:srgbClr val="FF0000"/>
                    </a:solidFill>
                  </a:rPr>
                  <a:t>. 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1ADE2E5-8528-4E61-CA01-2767CEA17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2768" y="2144561"/>
                <a:ext cx="3594115" cy="5447645"/>
              </a:xfrm>
              <a:prstGeom prst="rect">
                <a:avLst/>
              </a:prstGeom>
              <a:blipFill>
                <a:blip r:embed="rId2"/>
                <a:stretch>
                  <a:fillRect l="-170" t="-224" b="-1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83DFBFA-F56C-49C2-2DEB-6F283CCABBB3}"/>
              </a:ext>
            </a:extLst>
          </p:cNvPr>
          <p:cNvSpPr txBox="1"/>
          <p:nvPr/>
        </p:nvSpPr>
        <p:spPr>
          <a:xfrm>
            <a:off x="841180" y="1236623"/>
            <a:ext cx="32330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(1) </a:t>
            </a:r>
            <a:r>
              <a:rPr lang="en-US" altLang="ko-KR" sz="1200" dirty="0" err="1"/>
              <a:t>WRMSE</a:t>
            </a:r>
            <a:r>
              <a:rPr lang="en-US" altLang="ko-KR" sz="1200" dirty="0"/>
              <a:t> </a:t>
            </a:r>
            <a:r>
              <a:rPr lang="ko-KR" altLang="en-US" sz="1200" dirty="0"/>
              <a:t>함수 직접 정의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C9E291-D1FA-C0D7-FB88-E0AE8BAEC30D}"/>
              </a:ext>
            </a:extLst>
          </p:cNvPr>
          <p:cNvSpPr txBox="1"/>
          <p:nvPr/>
        </p:nvSpPr>
        <p:spPr>
          <a:xfrm>
            <a:off x="8363102" y="1311192"/>
            <a:ext cx="17395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spc="-300" dirty="0">
                <a:solidFill>
                  <a:schemeClr val="bg1"/>
                </a:solidFill>
              </a:rPr>
              <a:t>1</a:t>
            </a:r>
            <a:r>
              <a:rPr lang="ko-KR" altLang="en-US" sz="2400" spc="-300" dirty="0">
                <a:solidFill>
                  <a:schemeClr val="bg1"/>
                </a:solidFill>
              </a:rPr>
              <a:t>등  수상사유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58E1A2-DA03-92B4-5447-5D076ECFCFA4}"/>
              </a:ext>
            </a:extLst>
          </p:cNvPr>
          <p:cNvSpPr txBox="1"/>
          <p:nvPr/>
        </p:nvSpPr>
        <p:spPr>
          <a:xfrm>
            <a:off x="841179" y="2818601"/>
            <a:ext cx="32330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(2) </a:t>
            </a:r>
            <a:r>
              <a:rPr lang="en-US" altLang="ko-KR" sz="1200" dirty="0" err="1"/>
              <a:t>WRMSE</a:t>
            </a:r>
            <a:r>
              <a:rPr lang="en-US" altLang="ko-KR" sz="1200" dirty="0"/>
              <a:t> </a:t>
            </a:r>
            <a:r>
              <a:rPr lang="ko-KR" altLang="en-US" sz="1200" dirty="0"/>
              <a:t>를 통한 모델 선택 및 평가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BEA2E30-E5CB-D807-C95B-D5126FB15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052" y="1558531"/>
            <a:ext cx="5334183" cy="117206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E113C9B-B3A0-0FFC-FF5A-746DC00ED0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7878"/>
          <a:stretch>
            <a:fillRect/>
          </a:stretch>
        </p:blipFill>
        <p:spPr>
          <a:xfrm>
            <a:off x="1160298" y="3112385"/>
            <a:ext cx="5334183" cy="84459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1F06373-BF4A-AFC2-B3D5-A1F3E0066190}"/>
              </a:ext>
            </a:extLst>
          </p:cNvPr>
          <p:cNvSpPr txBox="1"/>
          <p:nvPr/>
        </p:nvSpPr>
        <p:spPr>
          <a:xfrm>
            <a:off x="841179" y="4262079"/>
            <a:ext cx="32330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(3) </a:t>
            </a:r>
            <a:r>
              <a:rPr lang="ko-KR" altLang="en-US" sz="1200" dirty="0" err="1"/>
              <a:t>공인구</a:t>
            </a:r>
            <a:r>
              <a:rPr lang="ko-KR" altLang="en-US" sz="1200" dirty="0"/>
              <a:t> 반발계수</a:t>
            </a:r>
            <a:r>
              <a:rPr lang="en-US" altLang="ko-KR" sz="1200" dirty="0"/>
              <a:t>(</a:t>
            </a:r>
            <a:r>
              <a:rPr lang="ko-KR" altLang="en-US" sz="1200" dirty="0"/>
              <a:t>공 상태에 따른 하향 조정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95EFE273-A000-9B8E-DA3D-44704FD9EEB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3078" b="1911"/>
          <a:stretch>
            <a:fillRect/>
          </a:stretch>
        </p:blipFill>
        <p:spPr>
          <a:xfrm>
            <a:off x="1160297" y="4659712"/>
            <a:ext cx="5334183" cy="41734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791321F-3040-68C1-AB98-6D01FC1FC5A0}"/>
              </a:ext>
            </a:extLst>
          </p:cNvPr>
          <p:cNvSpPr txBox="1"/>
          <p:nvPr/>
        </p:nvSpPr>
        <p:spPr>
          <a:xfrm>
            <a:off x="841179" y="5242915"/>
            <a:ext cx="35941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(3) </a:t>
            </a:r>
            <a:r>
              <a:rPr lang="ko-KR" altLang="en-US" sz="1200" dirty="0" err="1"/>
              <a:t>공인구</a:t>
            </a:r>
            <a:r>
              <a:rPr lang="ko-KR" altLang="en-US" sz="1200" dirty="0"/>
              <a:t> 반발계수</a:t>
            </a:r>
            <a:r>
              <a:rPr lang="en-US" altLang="ko-KR" sz="1200" dirty="0"/>
              <a:t>(</a:t>
            </a:r>
            <a:r>
              <a:rPr lang="ko-KR" altLang="en-US" sz="1200" dirty="0"/>
              <a:t>공 상태에 따른 하향 조정</a:t>
            </a:r>
            <a:r>
              <a:rPr lang="en-US" altLang="ko-KR" sz="1200" dirty="0"/>
              <a:t>)</a:t>
            </a:r>
            <a:endParaRPr lang="ko-KR" altLang="en-US" sz="1200" dirty="0"/>
          </a:p>
          <a:p>
            <a:r>
              <a:rPr lang="en-US" altLang="ko-KR" sz="1200" dirty="0"/>
              <a:t>- </a:t>
            </a:r>
            <a:r>
              <a:rPr lang="ko-KR" altLang="en-US" sz="1200" dirty="0"/>
              <a:t>최종 </a:t>
            </a:r>
            <a:r>
              <a:rPr lang="en-US" altLang="ko-KR" sz="1200" dirty="0"/>
              <a:t>OPS </a:t>
            </a:r>
            <a:r>
              <a:rPr lang="ko-KR" altLang="en-US" sz="1200" dirty="0" err="1"/>
              <a:t>예측값에서</a:t>
            </a:r>
            <a:r>
              <a:rPr lang="ko-KR" altLang="en-US" sz="1200" dirty="0"/>
              <a:t> </a:t>
            </a:r>
            <a:r>
              <a:rPr lang="en-US" altLang="ko-KR" sz="1200" dirty="0"/>
              <a:t>0.035</a:t>
            </a:r>
            <a:r>
              <a:rPr lang="ko-KR" altLang="en-US" sz="1200" dirty="0"/>
              <a:t>를 일괄적으로 차감했다</a:t>
            </a:r>
            <a:r>
              <a:rPr lang="en-US" altLang="ko-KR" sz="1200" dirty="0"/>
              <a:t>. </a:t>
            </a:r>
            <a:r>
              <a:rPr lang="ko-KR" altLang="en-US" sz="1200" dirty="0"/>
              <a:t>예측 모델의 결과만 사용하지 않고 실제 환경 변화</a:t>
            </a:r>
            <a:r>
              <a:rPr lang="en-US" altLang="ko-KR" sz="1200" dirty="0"/>
              <a:t>(</a:t>
            </a:r>
            <a:r>
              <a:rPr lang="ko-KR" altLang="en-US" sz="1200" dirty="0"/>
              <a:t>외부 환경 고려</a:t>
            </a:r>
            <a:r>
              <a:rPr lang="en-US" altLang="ko-KR" sz="1200" dirty="0"/>
              <a:t>)</a:t>
            </a:r>
            <a:r>
              <a:rPr lang="ko-KR" altLang="en-US" sz="1200" dirty="0"/>
              <a:t>를 반영하여 예측 성능을 개선하려는 최적화 노력이다</a:t>
            </a:r>
            <a:r>
              <a:rPr lang="en-US" altLang="ko-KR" sz="1200" dirty="0"/>
              <a:t>. </a:t>
            </a:r>
            <a:r>
              <a:rPr lang="ko-KR" altLang="en-US" sz="1200" dirty="0"/>
              <a:t>이는 도메인 지식이 필요한 부분으로 확인된다</a:t>
            </a:r>
            <a:r>
              <a:rPr lang="en-US" altLang="ko-KR" sz="12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38405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1508F-A4C2-1B6F-49EC-F71F67BF9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AA5782BD-4CB7-EFB8-E87D-615A9093E979}"/>
              </a:ext>
            </a:extLst>
          </p:cNvPr>
          <p:cNvSpPr txBox="1"/>
          <p:nvPr/>
        </p:nvSpPr>
        <p:spPr>
          <a:xfrm>
            <a:off x="717131" y="423167"/>
            <a:ext cx="9228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Part 4  | </a:t>
            </a:r>
            <a:endParaRPr lang="ko-KR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BA99E3-B80E-83C6-9855-01170998BF41}"/>
              </a:ext>
            </a:extLst>
          </p:cNvPr>
          <p:cNvSpPr txBox="1"/>
          <p:nvPr/>
        </p:nvSpPr>
        <p:spPr>
          <a:xfrm>
            <a:off x="1550110" y="423167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개선사항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4D0E72B-1075-69AF-3A50-D71970204987}"/>
              </a:ext>
            </a:extLst>
          </p:cNvPr>
          <p:cNvSpPr/>
          <p:nvPr/>
        </p:nvSpPr>
        <p:spPr>
          <a:xfrm>
            <a:off x="869611" y="2235082"/>
            <a:ext cx="4001751" cy="39500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FADD7DC-B977-B928-5383-3031816FDD36}"/>
              </a:ext>
            </a:extLst>
          </p:cNvPr>
          <p:cNvSpPr/>
          <p:nvPr/>
        </p:nvSpPr>
        <p:spPr>
          <a:xfrm>
            <a:off x="869610" y="1206368"/>
            <a:ext cx="4001751" cy="719302"/>
          </a:xfrm>
          <a:prstGeom prst="rect">
            <a:avLst/>
          </a:prstGeom>
          <a:solidFill>
            <a:srgbClr val="A3D4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13CA36-48D8-D3E4-EBDE-FEACC7122242}"/>
              </a:ext>
            </a:extLst>
          </p:cNvPr>
          <p:cNvSpPr txBox="1"/>
          <p:nvPr/>
        </p:nvSpPr>
        <p:spPr>
          <a:xfrm>
            <a:off x="2789158" y="14275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7DAF3BB-26CD-18A5-D56E-1D37EEE862A7}"/>
              </a:ext>
            </a:extLst>
          </p:cNvPr>
          <p:cNvSpPr/>
          <p:nvPr/>
        </p:nvSpPr>
        <p:spPr>
          <a:xfrm>
            <a:off x="5169919" y="1076325"/>
            <a:ext cx="6152470" cy="510883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0" name="데이터가공">
            <a:extLst>
              <a:ext uri="{FF2B5EF4-FFF2-40B4-BE49-F238E27FC236}">
                <a16:creationId xmlns:a16="http://schemas.microsoft.com/office/drawing/2014/main" id="{D245861D-9E33-B20A-9A38-5D74583454B8}"/>
              </a:ext>
            </a:extLst>
          </p:cNvPr>
          <p:cNvGrpSpPr/>
          <p:nvPr/>
        </p:nvGrpSpPr>
        <p:grpSpPr>
          <a:xfrm>
            <a:off x="5374244" y="1289020"/>
            <a:ext cx="5495039" cy="1505357"/>
            <a:chOff x="711316" y="538146"/>
            <a:chExt cx="10490506" cy="1836930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04DB0D7-3EFF-B08A-C9E5-11879F6D0997}"/>
                </a:ext>
              </a:extLst>
            </p:cNvPr>
            <p:cNvSpPr txBox="1"/>
            <p:nvPr/>
          </p:nvSpPr>
          <p:spPr>
            <a:xfrm>
              <a:off x="711316" y="538146"/>
              <a:ext cx="6172201" cy="3380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1)ab(</a:t>
              </a:r>
              <a:r>
                <a:rPr lang="ko-KR" altLang="en-US" sz="1200" dirty="0"/>
                <a:t>타수</a:t>
              </a:r>
              <a:r>
                <a:rPr lang="en-US" altLang="ko-KR" sz="1200" dirty="0"/>
                <a:t>) &lt;30 </a:t>
              </a:r>
              <a:r>
                <a:rPr lang="ko-KR" altLang="en-US" sz="1200" dirty="0"/>
                <a:t>행 필터링해 </a:t>
              </a:r>
              <a:r>
                <a:rPr lang="en-US" altLang="ko-KR" sz="1200" dirty="0"/>
                <a:t>0</a:t>
              </a:r>
              <a:r>
                <a:rPr lang="ko-KR" altLang="en-US" sz="1200" dirty="0"/>
                <a:t>으로 값 대체</a:t>
              </a:r>
              <a:r>
                <a:rPr lang="en-US" altLang="ko-KR" sz="1200" dirty="0"/>
                <a:t>.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1542D67-5028-2440-BB3D-ADC378D1A218}"/>
                </a:ext>
              </a:extLst>
            </p:cNvPr>
            <p:cNvSpPr txBox="1"/>
            <p:nvPr/>
          </p:nvSpPr>
          <p:spPr>
            <a:xfrm>
              <a:off x="711316" y="1135701"/>
              <a:ext cx="10490506" cy="12393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ko-KR" altLang="en-US" sz="1200" dirty="0" err="1"/>
                <a:t>쥬피터노트북이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켜지지않아서</a:t>
              </a:r>
              <a:r>
                <a:rPr lang="ko-KR" altLang="en-US" sz="1200" dirty="0"/>
                <a:t> 코드가 </a:t>
              </a:r>
              <a:r>
                <a:rPr lang="ko-KR" altLang="en-US" sz="1200" dirty="0" err="1"/>
                <a:t>확인되지않아요</a:t>
              </a:r>
              <a:r>
                <a:rPr lang="en-US" altLang="ko-KR" sz="1200" dirty="0"/>
                <a:t>..</a:t>
              </a:r>
              <a:r>
                <a:rPr lang="ko-KR" altLang="en-US" sz="1200" dirty="0"/>
                <a:t>현재 </a:t>
              </a:r>
              <a:r>
                <a:rPr lang="ko-KR" altLang="en-US" sz="1200" dirty="0" err="1"/>
                <a:t>확인중인데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너무오래걸려서</a:t>
              </a:r>
              <a:r>
                <a:rPr lang="ko-KR" altLang="en-US" sz="1200" dirty="0"/>
                <a:t> 코드만 확인된다면 직접 </a:t>
              </a:r>
              <a:r>
                <a:rPr lang="ko-KR" altLang="en-US" sz="1200" dirty="0" err="1"/>
                <a:t>올려주실수잇나요</a:t>
              </a:r>
              <a:r>
                <a:rPr lang="en-US" altLang="ko-KR" sz="1200" dirty="0"/>
                <a:t>..</a:t>
              </a:r>
            </a:p>
            <a:p>
              <a:pPr>
                <a:buNone/>
              </a:pPr>
              <a:endParaRPr lang="en-US" altLang="ko-KR" sz="1200" dirty="0"/>
            </a:p>
            <a:p>
              <a:pPr>
                <a:buNone/>
              </a:pPr>
              <a:r>
                <a:rPr lang="ko-KR" altLang="en-US" sz="1200" dirty="0"/>
                <a:t>코드는 아래로 확인됩니다</a:t>
              </a:r>
              <a:r>
                <a:rPr lang="en-US" altLang="ko-KR" sz="1200" dirty="0"/>
                <a:t>..</a:t>
              </a:r>
            </a:p>
            <a:p>
              <a:pPr>
                <a:buNone/>
              </a:pPr>
              <a:r>
                <a:rPr lang="en-US" altLang="ko-KR" sz="1200" dirty="0" err="1"/>
                <a:t>train_df</a:t>
              </a:r>
              <a:r>
                <a:rPr lang="en-US" altLang="ko-KR" sz="1200" dirty="0"/>
                <a:t> = </a:t>
              </a:r>
              <a:r>
                <a:rPr lang="en-US" altLang="ko-KR" sz="1200" dirty="0" err="1"/>
                <a:t>train_df</a:t>
              </a:r>
              <a:r>
                <a:rPr lang="en-US" altLang="ko-KR" sz="1200" dirty="0"/>
                <a:t>[</a:t>
              </a:r>
              <a:r>
                <a:rPr lang="en-US" altLang="ko-KR" sz="1200" dirty="0" err="1"/>
                <a:t>train_df</a:t>
              </a:r>
              <a:r>
                <a:rPr lang="en-US" altLang="ko-KR" sz="1200" dirty="0"/>
                <a:t>['AB_LAG1'] &gt;= 30].</a:t>
              </a:r>
              <a:r>
                <a:rPr lang="en-US" altLang="ko-KR" sz="1200" dirty="0" err="1"/>
                <a:t>fillna</a:t>
              </a:r>
              <a:r>
                <a:rPr lang="en-US" altLang="ko-KR" sz="1200" dirty="0"/>
                <a:t>(0)</a:t>
              </a:r>
              <a:endParaRPr lang="ko-KR" altLang="en-US" sz="1200" dirty="0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73A5FB86-2A73-A716-10FD-02A0C225708C}"/>
              </a:ext>
            </a:extLst>
          </p:cNvPr>
          <p:cNvSpPr txBox="1"/>
          <p:nvPr/>
        </p:nvSpPr>
        <p:spPr>
          <a:xfrm>
            <a:off x="1977878" y="1351898"/>
            <a:ext cx="16225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spc="-300" dirty="0" err="1">
                <a:solidFill>
                  <a:schemeClr val="bg1"/>
                </a:solidFill>
              </a:rPr>
              <a:t>결측치</a:t>
            </a:r>
            <a:r>
              <a:rPr lang="ko-KR" altLang="en-US" sz="2400" spc="-300" dirty="0">
                <a:solidFill>
                  <a:schemeClr val="bg1"/>
                </a:solidFill>
              </a:rPr>
              <a:t>  처리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F0D8A1-9BD2-84E7-6928-E02B410542C5}"/>
              </a:ext>
            </a:extLst>
          </p:cNvPr>
          <p:cNvSpPr txBox="1"/>
          <p:nvPr/>
        </p:nvSpPr>
        <p:spPr>
          <a:xfrm>
            <a:off x="992099" y="2466653"/>
            <a:ext cx="359411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(1)ab(</a:t>
            </a:r>
            <a:r>
              <a:rPr lang="ko-KR" altLang="en-US" sz="1200" dirty="0"/>
              <a:t>타수</a:t>
            </a:r>
            <a:r>
              <a:rPr lang="en-US" altLang="ko-KR" sz="1200" dirty="0"/>
              <a:t>) &lt;30 </a:t>
            </a:r>
            <a:r>
              <a:rPr lang="ko-KR" altLang="en-US" sz="1200" dirty="0"/>
              <a:t>행 필터링해 </a:t>
            </a:r>
            <a:r>
              <a:rPr lang="en-US" altLang="ko-KR" sz="1200" dirty="0"/>
              <a:t>0</a:t>
            </a:r>
            <a:r>
              <a:rPr lang="ko-KR" altLang="en-US" sz="1200" dirty="0"/>
              <a:t>으로 값 대체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 err="1"/>
              <a:t>결측치</a:t>
            </a:r>
            <a:r>
              <a:rPr lang="ko-KR" altLang="en-US" sz="1200" dirty="0"/>
              <a:t> 발생 상황 중</a:t>
            </a:r>
            <a:r>
              <a:rPr lang="en-US" altLang="ko-KR" sz="1200" dirty="0"/>
              <a:t> </a:t>
            </a:r>
            <a:r>
              <a:rPr lang="ko-KR" altLang="en-US" sz="1200" dirty="0"/>
              <a:t>신인  혹은 장기간 미출전한 선수들의 케이스가 있다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그래서 </a:t>
            </a:r>
            <a:r>
              <a:rPr lang="en-US" altLang="ko-KR" sz="1200" dirty="0"/>
              <a:t>LAG </a:t>
            </a:r>
            <a:r>
              <a:rPr lang="ko-KR" altLang="en-US" sz="1200" dirty="0"/>
              <a:t>기록이 없는 신인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비주전</a:t>
            </a:r>
            <a:r>
              <a:rPr lang="ko-KR" altLang="en-US" sz="1200" dirty="0"/>
              <a:t> 선수 </a:t>
            </a:r>
            <a:r>
              <a:rPr lang="ko-KR" altLang="en-US" sz="1200" dirty="0" err="1"/>
              <a:t>결측치</a:t>
            </a:r>
            <a:r>
              <a:rPr lang="ko-KR" altLang="en-US" sz="1200" dirty="0"/>
              <a:t> 대체를 한다</a:t>
            </a:r>
            <a:r>
              <a:rPr lang="en-US" altLang="ko-KR" sz="1200" dirty="0"/>
              <a:t>. </a:t>
            </a:r>
          </a:p>
          <a:p>
            <a:r>
              <a:rPr lang="ko-KR" altLang="en-US" sz="1200" dirty="0"/>
              <a:t>그러므로 훈련데이터</a:t>
            </a:r>
            <a:r>
              <a:rPr lang="en-US" altLang="ko-KR" sz="1200" dirty="0"/>
              <a:t>(</a:t>
            </a:r>
            <a:r>
              <a:rPr lang="en-US" altLang="ko-KR" sz="1200" dirty="0" err="1"/>
              <a:t>train_df</a:t>
            </a:r>
            <a:r>
              <a:rPr lang="en-US" altLang="ko-KR" sz="1200" dirty="0"/>
              <a:t>)</a:t>
            </a:r>
            <a:r>
              <a:rPr lang="ko-KR" altLang="en-US" sz="1200" dirty="0"/>
              <a:t>에서 직전 시즌 타수</a:t>
            </a:r>
            <a:r>
              <a:rPr lang="en-US" altLang="ko-KR" sz="1200" dirty="0"/>
              <a:t>(AB_LAG1)</a:t>
            </a:r>
            <a:r>
              <a:rPr lang="ko-KR" altLang="en-US" sz="1200" dirty="0"/>
              <a:t>가 </a:t>
            </a:r>
            <a:r>
              <a:rPr lang="en-US" altLang="ko-KR" sz="1200" dirty="0"/>
              <a:t>30</a:t>
            </a:r>
            <a:r>
              <a:rPr lang="ko-KR" altLang="en-US" sz="1200" dirty="0"/>
              <a:t>타석 미만 모든 행을 아예 제거한다</a:t>
            </a:r>
            <a:r>
              <a:rPr lang="en-US" altLang="ko-KR" sz="1200" dirty="0"/>
              <a:t>. </a:t>
            </a:r>
          </a:p>
          <a:p>
            <a:r>
              <a:rPr lang="ko-KR" altLang="en-US" sz="1200" dirty="0"/>
              <a:t>이를 통해 모델이 불안정한 기록을 학습하여 과적합이 되는 것을 방지한다</a:t>
            </a:r>
          </a:p>
          <a:p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569572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44FF0-77C9-E670-EA62-85BF43F6A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6CDE91B5-07BA-38C4-FF22-99914D6D4429}"/>
              </a:ext>
            </a:extLst>
          </p:cNvPr>
          <p:cNvSpPr txBox="1"/>
          <p:nvPr/>
        </p:nvSpPr>
        <p:spPr>
          <a:xfrm>
            <a:off x="717131" y="423167"/>
            <a:ext cx="9228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Part 4  </a:t>
            </a: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| </a:t>
            </a:r>
            <a:endParaRPr lang="ko-KR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0D01A98-D82F-BD83-4052-D4E7F14CC21D}"/>
              </a:ext>
            </a:extLst>
          </p:cNvPr>
          <p:cNvSpPr txBox="1"/>
          <p:nvPr/>
        </p:nvSpPr>
        <p:spPr>
          <a:xfrm>
            <a:off x="1550110" y="423167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개선사항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3E1AA6A-6B52-C770-BA4B-F1E81DCF948E}"/>
              </a:ext>
            </a:extLst>
          </p:cNvPr>
          <p:cNvSpPr/>
          <p:nvPr/>
        </p:nvSpPr>
        <p:spPr>
          <a:xfrm>
            <a:off x="7249202" y="2144562"/>
            <a:ext cx="4001751" cy="39500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00E11D3-2770-849A-E72E-5A0BC443DB80}"/>
              </a:ext>
            </a:extLst>
          </p:cNvPr>
          <p:cNvSpPr/>
          <p:nvPr/>
        </p:nvSpPr>
        <p:spPr>
          <a:xfrm>
            <a:off x="7234769" y="1143514"/>
            <a:ext cx="4001751" cy="719302"/>
          </a:xfrm>
          <a:prstGeom prst="rect">
            <a:avLst/>
          </a:prstGeom>
          <a:solidFill>
            <a:srgbClr val="A3D4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34BC08-4BC5-FE39-FA4C-FC51BEB390F7}"/>
              </a:ext>
            </a:extLst>
          </p:cNvPr>
          <p:cNvSpPr txBox="1"/>
          <p:nvPr/>
        </p:nvSpPr>
        <p:spPr>
          <a:xfrm>
            <a:off x="2789158" y="14275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671A77D-8E84-6A6E-04A9-9AB7B06F68B6}"/>
              </a:ext>
            </a:extLst>
          </p:cNvPr>
          <p:cNvSpPr/>
          <p:nvPr/>
        </p:nvSpPr>
        <p:spPr>
          <a:xfrm>
            <a:off x="751155" y="1143514"/>
            <a:ext cx="6152470" cy="510883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2823A2-E8DF-1C33-6086-904BB64BAC3B}"/>
              </a:ext>
            </a:extLst>
          </p:cNvPr>
          <p:cNvSpPr txBox="1"/>
          <p:nvPr/>
        </p:nvSpPr>
        <p:spPr>
          <a:xfrm>
            <a:off x="7312768" y="2144561"/>
            <a:ext cx="359411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선형성 제약 </a:t>
            </a:r>
            <a:r>
              <a:rPr lang="en-US" altLang="ko-KR" sz="1200" dirty="0"/>
              <a:t>=&gt; </a:t>
            </a:r>
            <a:r>
              <a:rPr lang="ko-KR" altLang="en-US" sz="1200" dirty="0"/>
              <a:t>피처를 통해 해소 및 </a:t>
            </a:r>
            <a:r>
              <a:rPr lang="ko-KR" altLang="en-US" sz="1200" dirty="0" err="1"/>
              <a:t>릿지</a:t>
            </a:r>
            <a:r>
              <a:rPr lang="ko-KR" altLang="en-US" sz="1200" dirty="0"/>
              <a:t> </a:t>
            </a:r>
            <a:r>
              <a:rPr lang="en-US" altLang="ko-KR" sz="1200" dirty="0"/>
              <a:t>Ridge</a:t>
            </a:r>
            <a:r>
              <a:rPr lang="ko-KR" altLang="en-US" sz="1200" dirty="0"/>
              <a:t> 모델 표현력 향상</a:t>
            </a:r>
            <a:endParaRPr lang="en-US" altLang="ko-KR" sz="1200" dirty="0"/>
          </a:p>
          <a:p>
            <a:r>
              <a:rPr lang="en-US" altLang="ko-KR" sz="1200" dirty="0"/>
              <a:t>(1) </a:t>
            </a:r>
            <a:r>
              <a:rPr lang="ko-KR" altLang="en-US" sz="1200" dirty="0"/>
              <a:t>나이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나이제곱</a:t>
            </a:r>
            <a:r>
              <a:rPr lang="ko-KR" altLang="en-US" sz="1200" dirty="0"/>
              <a:t> 피처</a:t>
            </a:r>
            <a:r>
              <a:rPr lang="en-US" altLang="ko-KR" sz="1200" dirty="0"/>
              <a:t>) </a:t>
            </a:r>
            <a:r>
              <a:rPr lang="ko-KR" altLang="en-US" sz="1200" dirty="0"/>
              <a:t>나이 제곱 추가로 비선형성 추가로 포물선으로 상승 하락세 파악한다</a:t>
            </a:r>
            <a:r>
              <a:rPr lang="en-US" altLang="ko-KR" sz="1200" dirty="0"/>
              <a:t>. </a:t>
            </a:r>
            <a:r>
              <a:rPr lang="ko-KR" altLang="en-US" sz="1200" b="1" dirty="0"/>
              <a:t>별도의 비선형 모델 없이도</a:t>
            </a:r>
            <a:r>
              <a:rPr lang="ko-KR" altLang="en-US" sz="1200" dirty="0"/>
              <a:t> 선수의 기량 정점과 하락세를 정확하게 반영할 수 있다</a:t>
            </a:r>
            <a:r>
              <a:rPr lang="en-US" altLang="ko-KR" sz="1200" dirty="0"/>
              <a:t>.</a:t>
            </a:r>
          </a:p>
          <a:p>
            <a:endParaRPr lang="ko-KR" altLang="en-US" sz="1200" dirty="0"/>
          </a:p>
          <a:p>
            <a:r>
              <a:rPr lang="en-US" altLang="ko-KR" sz="1200" dirty="0"/>
              <a:t>(2) </a:t>
            </a:r>
            <a:r>
              <a:rPr lang="ko-KR" altLang="en-US" sz="1200" dirty="0"/>
              <a:t>후반기 폼</a:t>
            </a:r>
            <a:r>
              <a:rPr lang="en-US" altLang="ko-KR" sz="1200" dirty="0"/>
              <a:t>(ops_2h_lag1) </a:t>
            </a:r>
            <a:r>
              <a:rPr lang="ko-KR" altLang="en-US" sz="1200" dirty="0"/>
              <a:t>피처</a:t>
            </a:r>
            <a:r>
              <a:rPr lang="en-US" altLang="ko-KR" sz="1200" dirty="0"/>
              <a:t>) </a:t>
            </a:r>
          </a:p>
          <a:p>
            <a:r>
              <a:rPr lang="ko-KR" altLang="en-US" sz="1200" dirty="0"/>
              <a:t>직전 시즌 후반기 성적 반영으로 체력 상태</a:t>
            </a:r>
            <a:r>
              <a:rPr lang="en-US" altLang="ko-KR" sz="1200" dirty="0"/>
              <a:t>, </a:t>
            </a:r>
            <a:r>
              <a:rPr lang="ko-KR" altLang="en-US" sz="1200" dirty="0"/>
              <a:t>기술적 변화</a:t>
            </a:r>
            <a:r>
              <a:rPr lang="en-US" altLang="ko-KR" sz="1200" dirty="0"/>
              <a:t>, </a:t>
            </a:r>
            <a:r>
              <a:rPr lang="ko-KR" altLang="en-US" sz="1200" dirty="0"/>
              <a:t>폼의 저하 또는 상승 등 최신정보 반영</a:t>
            </a:r>
            <a:r>
              <a:rPr lang="en-US" altLang="ko-KR" sz="1200" dirty="0"/>
              <a:t>-&gt; OPS</a:t>
            </a:r>
            <a:r>
              <a:rPr lang="ko-KR" altLang="en-US" sz="1200" dirty="0"/>
              <a:t> </a:t>
            </a:r>
            <a:r>
              <a:rPr lang="ko-KR" altLang="en-US" sz="1200" dirty="0" err="1"/>
              <a:t>평균화하면</a:t>
            </a:r>
            <a:r>
              <a:rPr lang="ko-KR" altLang="en-US" sz="1200" dirty="0"/>
              <a:t> 이런 변화 놓칠 수 있음</a:t>
            </a:r>
            <a:endParaRPr lang="en-US" altLang="ko-KR" sz="1200" dirty="0"/>
          </a:p>
          <a:p>
            <a:r>
              <a:rPr lang="ko-KR" altLang="en-US" sz="1200" dirty="0"/>
              <a:t>그러므로 이렇게 </a:t>
            </a:r>
            <a:r>
              <a:rPr lang="en-US" altLang="ko-KR" sz="1200" dirty="0"/>
              <a:t>OPS_2H_LAG1</a:t>
            </a:r>
            <a:r>
              <a:rPr lang="ko-KR" altLang="en-US" sz="1200" dirty="0"/>
              <a:t> 피처가 </a:t>
            </a:r>
            <a:r>
              <a:rPr lang="en-US" altLang="ko-KR" sz="1200" dirty="0"/>
              <a:t>OPS </a:t>
            </a:r>
            <a:r>
              <a:rPr lang="ko-KR" altLang="en-US" sz="1200" dirty="0"/>
              <a:t>예측에 중요한 가중치 </a:t>
            </a:r>
            <a:r>
              <a:rPr lang="ko-KR" altLang="en-US" sz="1200" dirty="0" err="1"/>
              <a:t>부여받게</a:t>
            </a:r>
            <a:r>
              <a:rPr lang="ko-KR" altLang="en-US" sz="1200" dirty="0"/>
              <a:t> 되면 변동성 큰 타자 성적 예측에 효과적</a:t>
            </a:r>
          </a:p>
          <a:p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/>
              <a:t>피처를 늘린 이유 </a:t>
            </a:r>
            <a:r>
              <a:rPr lang="en-US" altLang="ko-KR" sz="1200" dirty="0"/>
              <a:t>: </a:t>
            </a:r>
            <a:r>
              <a:rPr lang="ko-KR" altLang="en-US" sz="1200" dirty="0"/>
              <a:t>핵심 정보를 추가하는 과정으로</a:t>
            </a:r>
            <a:r>
              <a:rPr lang="en-US" altLang="ko-KR" sz="1200" dirty="0"/>
              <a:t>, </a:t>
            </a:r>
            <a:r>
              <a:rPr lang="ko-KR" altLang="en-US" sz="1200" dirty="0"/>
              <a:t>규제능력이 이 두개의 정보를 수용하고 활용할 수 있다</a:t>
            </a:r>
            <a:r>
              <a:rPr lang="en-US" altLang="ko-KR" sz="1200" dirty="0"/>
              <a:t>. </a:t>
            </a:r>
            <a:r>
              <a:rPr lang="ko-KR" altLang="en-US" sz="1200" dirty="0" err="1"/>
              <a:t>그러므로정보력이</a:t>
            </a:r>
            <a:r>
              <a:rPr lang="ko-KR" altLang="en-US" sz="1200" dirty="0"/>
              <a:t> 높은 피처를 </a:t>
            </a:r>
            <a:r>
              <a:rPr lang="ko-KR" altLang="en-US" sz="1200" dirty="0" err="1"/>
              <a:t>추가하는게</a:t>
            </a:r>
            <a:r>
              <a:rPr lang="ko-KR" altLang="en-US" sz="1200" dirty="0"/>
              <a:t>  이득이므로 피처 삭제대신 추가를 진행했다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03E49D-6AEA-411C-1A12-6A427647CD3E}"/>
              </a:ext>
            </a:extLst>
          </p:cNvPr>
          <p:cNvSpPr txBox="1"/>
          <p:nvPr/>
        </p:nvSpPr>
        <p:spPr>
          <a:xfrm>
            <a:off x="841180" y="1236623"/>
            <a:ext cx="695709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arenBoth"/>
            </a:pPr>
            <a:r>
              <a:rPr lang="ko-KR" altLang="en-US" sz="1200" dirty="0"/>
              <a:t>나이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나이제곱</a:t>
            </a:r>
            <a:r>
              <a:rPr lang="ko-KR" altLang="en-US" sz="1200" dirty="0"/>
              <a:t> 피처</a:t>
            </a:r>
            <a:r>
              <a:rPr lang="en-US" altLang="ko-KR" sz="1200" dirty="0"/>
              <a:t>) </a:t>
            </a:r>
          </a:p>
          <a:p>
            <a:r>
              <a:rPr lang="en-US" altLang="ko-KR" dirty="0"/>
              <a:t>(</a:t>
            </a:r>
            <a:r>
              <a:rPr lang="ko-KR" altLang="en-US" dirty="0"/>
              <a:t>코드내용 </a:t>
            </a:r>
            <a:r>
              <a:rPr lang="en-US" altLang="ko-KR" dirty="0"/>
              <a:t>3-2)</a:t>
            </a:r>
            <a:r>
              <a:rPr lang="en-US" altLang="ko-KR" dirty="0" err="1"/>
              <a:t>df_reg</a:t>
            </a:r>
            <a:r>
              <a:rPr lang="en-US" altLang="ko-KR" dirty="0"/>
              <a:t>['</a:t>
            </a:r>
            <a:r>
              <a:rPr lang="ko-KR" altLang="en-US" dirty="0"/>
              <a:t>나이</a:t>
            </a:r>
            <a:r>
              <a:rPr lang="en-US" altLang="ko-KR" dirty="0"/>
              <a:t>_</a:t>
            </a:r>
            <a:r>
              <a:rPr lang="ko-KR" altLang="en-US" dirty="0"/>
              <a:t>제곱</a:t>
            </a:r>
            <a:r>
              <a:rPr lang="en-US" altLang="ko-KR" dirty="0"/>
              <a:t>'] = </a:t>
            </a:r>
            <a:r>
              <a:rPr lang="en-US" altLang="ko-KR" dirty="0" err="1"/>
              <a:t>df_reg</a:t>
            </a:r>
            <a:r>
              <a:rPr lang="en-US" altLang="ko-KR" dirty="0"/>
              <a:t>[＇</a:t>
            </a:r>
            <a:r>
              <a:rPr lang="ko-KR" altLang="en-US" dirty="0"/>
              <a:t>나이</a:t>
            </a:r>
            <a:r>
              <a:rPr lang="en-US" altLang="ko-KR" dirty="0"/>
              <a:t>'] ** 2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3B17AC-B7E6-9312-AFAE-CE07B0D3080C}"/>
              </a:ext>
            </a:extLst>
          </p:cNvPr>
          <p:cNvSpPr txBox="1"/>
          <p:nvPr/>
        </p:nvSpPr>
        <p:spPr>
          <a:xfrm>
            <a:off x="8571493" y="1311192"/>
            <a:ext cx="13227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spc="-300" dirty="0">
                <a:solidFill>
                  <a:schemeClr val="bg1"/>
                </a:solidFill>
              </a:rPr>
              <a:t>피처  생성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5DD50E-52F6-E4B5-A98B-6A9AB0EF5C3E}"/>
              </a:ext>
            </a:extLst>
          </p:cNvPr>
          <p:cNvSpPr txBox="1"/>
          <p:nvPr/>
        </p:nvSpPr>
        <p:spPr>
          <a:xfrm>
            <a:off x="841179" y="3476574"/>
            <a:ext cx="32330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arenBoth"/>
            </a:pPr>
            <a:r>
              <a:rPr lang="ko-KR" altLang="en-US" sz="1200" dirty="0"/>
              <a:t>후반기 폼</a:t>
            </a:r>
            <a:r>
              <a:rPr lang="en-US" altLang="ko-KR" sz="1200" dirty="0"/>
              <a:t>(ops_2h_lag1) </a:t>
            </a:r>
            <a:r>
              <a:rPr lang="ko-KR" altLang="en-US" sz="1200" dirty="0"/>
              <a:t>피처</a:t>
            </a:r>
            <a:endParaRPr lang="en-US" altLang="ko-KR" sz="1200" dirty="0"/>
          </a:p>
          <a:p>
            <a:r>
              <a:rPr lang="en-US" altLang="ko-KR" sz="1200" dirty="0"/>
              <a:t>(</a:t>
            </a:r>
            <a:r>
              <a:rPr lang="ko-KR" altLang="en-US" sz="1200" dirty="0"/>
              <a:t>코드내용 </a:t>
            </a:r>
            <a:r>
              <a:rPr lang="en-US" altLang="ko-KR" sz="1200" dirty="0"/>
              <a:t>3-4)</a:t>
            </a:r>
            <a:endParaRPr lang="ko-KR" altLang="en-US" sz="12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94E94E4-4E09-640C-A394-7B6BC4EE9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480" y="1700145"/>
            <a:ext cx="5200974" cy="148259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820A595-984A-D7B9-2531-ACC2AE8A2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047" y="4047407"/>
            <a:ext cx="5235139" cy="1468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752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BD4B924-472F-49BA-F87A-75B057893E59}"/>
              </a:ext>
            </a:extLst>
          </p:cNvPr>
          <p:cNvSpPr txBox="1"/>
          <p:nvPr/>
        </p:nvSpPr>
        <p:spPr>
          <a:xfrm>
            <a:off x="4128153" y="2174489"/>
            <a:ext cx="3935693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3800" b="1" dirty="0">
                <a:solidFill>
                  <a:schemeClr val="bg1"/>
                </a:solidFill>
              </a:rPr>
              <a:t>Q&amp;A</a:t>
            </a:r>
            <a:endParaRPr lang="ko-KR" altLang="en-US" sz="138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3B10AD-AE00-8589-963C-3BE019208DCA}"/>
              </a:ext>
            </a:extLst>
          </p:cNvPr>
          <p:cNvSpPr txBox="1"/>
          <p:nvPr/>
        </p:nvSpPr>
        <p:spPr>
          <a:xfrm>
            <a:off x="5128426" y="4248616"/>
            <a:ext cx="19351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질의 응답 시간</a:t>
            </a:r>
          </a:p>
        </p:txBody>
      </p:sp>
    </p:spTree>
    <p:extLst>
      <p:ext uri="{BB962C8B-B14F-4D97-AF65-F5344CB8AC3E}">
        <p14:creationId xmlns:p14="http://schemas.microsoft.com/office/powerpoint/2010/main" val="3133714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19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A5381"/>
      </a:accent1>
      <a:accent2>
        <a:srgbClr val="0768BE"/>
      </a:accent2>
      <a:accent3>
        <a:srgbClr val="9BBCDA"/>
      </a:accent3>
      <a:accent4>
        <a:srgbClr val="F7EFE2"/>
      </a:accent4>
      <a:accent5>
        <a:srgbClr val="BBBEBB"/>
      </a:accent5>
      <a:accent6>
        <a:srgbClr val="5F6877"/>
      </a:accent6>
      <a:hlink>
        <a:srgbClr val="3F3F3F"/>
      </a:hlink>
      <a:folHlink>
        <a:srgbClr val="3F3F3F"/>
      </a:folHlink>
    </a:clrScheme>
    <a:fontScheme name="Pretendard">
      <a:majorFont>
        <a:latin typeface="Pretendard Black"/>
        <a:ea typeface="Pretendard Black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20EBCDF-C7B7-41C3-9B84-54430936CA6D}">
  <we:reference id="wa104379997" version="2.0.0.0" store="ko-KR" storeType="OMEX"/>
  <we:alternateReferences>
    <we:reference id="wa104379997" version="2.0.0.0" store="WA104379997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a7e6d36-7aca-4078-9c65-27fdc975bf2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6D78F961DFB9DE40ACC9E7E3A9FEF25D" ma:contentTypeVersion="10" ma:contentTypeDescription="새 문서를 만듭니다." ma:contentTypeScope="" ma:versionID="395c39796410d7121cfc5356ff5028a2">
  <xsd:schema xmlns:xsd="http://www.w3.org/2001/XMLSchema" xmlns:xs="http://www.w3.org/2001/XMLSchema" xmlns:p="http://schemas.microsoft.com/office/2006/metadata/properties" xmlns:ns3="ea7e6d36-7aca-4078-9c65-27fdc975bf2c" targetNamespace="http://schemas.microsoft.com/office/2006/metadata/properties" ma:root="true" ma:fieldsID="1c9d326cabcecad69701fb729db5072a" ns3:_="">
    <xsd:import namespace="ea7e6d36-7aca-4078-9c65-27fdc975bf2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7e6d36-7aca-4078-9c65-27fdc975bf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BBDCA05-80B2-4282-A691-CDDBF329E029}">
  <ds:schemaRefs>
    <ds:schemaRef ds:uri="http://www.w3.org/XML/1998/namespace"/>
    <ds:schemaRef ds:uri="ea7e6d36-7aca-4078-9c65-27fdc975bf2c"/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2D97130-409B-4157-AFE4-C640EA95691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E8D3A83-8ED6-463C-8184-0544ACD58EB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7e6d36-7aca-4078-9c65-27fdc975bf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1320</TotalTime>
  <Words>1914</Words>
  <Application>Microsoft Office PowerPoint</Application>
  <PresentationFormat>와이드스크린</PresentationFormat>
  <Paragraphs>234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4" baseType="lpstr">
      <vt:lpstr>Pretendard</vt:lpstr>
      <vt:lpstr>Pretendard Black</vt:lpstr>
      <vt:lpstr>맑은 고딕</vt:lpstr>
      <vt:lpstr>Arial</vt:lpstr>
      <vt:lpstr>Calibri</vt:lpstr>
      <vt:lpstr>Cambria Math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박은혜(학부생-기업경영전공)</cp:lastModifiedBy>
  <cp:revision>17</cp:revision>
  <dcterms:created xsi:type="dcterms:W3CDTF">2023-07-09T02:14:59Z</dcterms:created>
  <dcterms:modified xsi:type="dcterms:W3CDTF">2026-03-09T09:56:20Z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0x0101006D78F961DFB9DE40ACC9E7E3A9FEF25D</vt:lpwstr>
  </property>
</Properties>
</file>